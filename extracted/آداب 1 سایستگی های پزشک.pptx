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8" r:id="rId4"/>
    <p:sldId id="277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80" r:id="rId14"/>
    <p:sldId id="281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A786-DD8A-4410-AECA-8DC03FC2A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47C73-FCB5-4BA7-B4A1-9AB9149E5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E3FC9-39E6-4EC2-AEB0-89D42102B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4ACE-C82E-40A3-8457-622C3979E45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CAAF2-817D-4C3B-B61E-68FBB825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614FE-4329-472F-8F20-906AAE86F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0D5D-7D8A-4978-A442-F133BBCD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61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17710-52C5-4E3E-BFB5-77298917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ED6A3-F29B-481A-9A5D-7027DDDD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B6B8-F2D3-4DC4-A234-B92E5C326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4ACE-C82E-40A3-8457-622C3979E45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C1A44-DF9D-4A56-A4F7-AC888D2DF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B069B-EEC0-40B1-BDA8-3B8F21F5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0D5D-7D8A-4978-A442-F133BBCD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1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4D19-64E9-469A-888E-5CB627F3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3B22D-F439-43A9-B214-89F86D56E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2CFFE-7785-4D94-92AC-FD57E6D79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4ACE-C82E-40A3-8457-622C3979E45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3D8BE-F0DB-41A4-BF58-9D5263CE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61DF3-64AF-4721-865D-42CF90069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0D5D-7D8A-4978-A442-F133BBCD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6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9D68-ABAE-42D4-B46E-870BA6496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A65BC-FC22-471C-924B-1B4C162E0B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8A551F-A038-4DDD-A6A9-D40B14DBF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7987D-8593-4353-8A55-1E19C6743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4ACE-C82E-40A3-8457-622C3979E45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621F1-6CAF-4EBD-8F76-CD56FB06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0222A-89D3-4428-BC81-CE0C4A5B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0D5D-7D8A-4978-A442-F133BBCD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59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C45B-1562-4C18-82D0-6FD698BF5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EABD8-2AF3-42B6-B695-9BCCC32AD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00887-9827-406B-BD61-4324609C4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588C1-89B6-4E06-80B0-523ED6284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361825-C5B8-4CCA-BF2A-D39434D736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FFB7D2-4C2B-4E0E-8E56-518E55C6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4ACE-C82E-40A3-8457-622C3979E45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53E01E-703E-4446-8CAF-1A194F49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E20D8C-21FF-46D6-A5B1-B0AE228A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0D5D-7D8A-4978-A442-F133BBCD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5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5852-E952-4174-8CE9-24F2540E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6F934B-9D7D-4298-861F-8CEE128E3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4ACE-C82E-40A3-8457-622C3979E45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0AE09-7D3E-49AF-8F93-A1E5ED21E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937E9-F874-42EE-8CF3-10CBFA48F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0D5D-7D8A-4978-A442-F133BBCD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47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3C5FE9-DE02-4E2C-8510-F3F31A8DB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4ACE-C82E-40A3-8457-622C3979E45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A99139-7400-4B92-813F-896BDDE95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BD882-2AAE-489B-8323-360A2E8D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0D5D-7D8A-4978-A442-F133BBCD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1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5572A-C269-4517-892B-9D087872E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943E2-E7EE-4FD3-B7CC-71B892B2E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E63DA-06B5-4EDD-B959-365C8AB91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6E97C-1611-4ECA-8D95-C78D222E0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4ACE-C82E-40A3-8457-622C3979E45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58495-2992-4A28-B983-2AC8782D8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5A10F-6AA4-47C7-90DB-C77385187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0D5D-7D8A-4978-A442-F133BBCD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85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62F77-52CD-4856-9824-65DB003E5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43716A-AF7E-4759-8156-A0668C6DF3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C60DD-63D0-4AE5-BAB0-D2E6203C8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082B0-6E8F-405D-9087-06006A8F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4ACE-C82E-40A3-8457-622C3979E45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BCEF1-0853-4E7F-9623-BF2FAB36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3FD8A-E8A0-4D6D-900D-6C59CD7CA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0D5D-7D8A-4978-A442-F133BBCD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19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4447-D41A-40C8-9047-881D624C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99411-44B4-4311-AA7C-7BCB91AE7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BDAEA-4461-4AD2-A680-1BA67383F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4ACE-C82E-40A3-8457-622C3979E45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DD6E8-0BD4-4A05-A022-6DC446925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9DBDE-3654-4081-A95F-B2710916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0D5D-7D8A-4978-A442-F133BBCD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54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C2520C-26EA-4CB0-8962-8809AC7527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110C9F-61BD-4957-917E-9E9CD37F4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E5893-5985-4838-B470-102BF979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4ACE-C82E-40A3-8457-622C3979E45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09BD7-8AB5-4E6D-9235-8C71FDD4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27C3D-FBCF-4E19-B490-98EAE2B6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0D5D-7D8A-4978-A442-F133BBCD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83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F42073-1123-4C88-BDB9-BD60AB880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AB00-6018-4CC7-8486-1A8FE75C4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C1362-7062-4399-B467-EE42CD99E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44ACE-C82E-40A3-8457-622C3979E45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5ABDD-8D36-401B-85FC-324FF4F0C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04C7B-1F93-4CF7-BC99-64C7936F0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60D5D-7D8A-4978-A442-F133BBCD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93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EDB71-84DF-4021-863E-A9D8B6714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353" y="1875398"/>
            <a:ext cx="10784541" cy="2387600"/>
          </a:xfrm>
        </p:spPr>
        <p:txBody>
          <a:bodyPr>
            <a:normAutofit fontScale="90000"/>
          </a:bodyPr>
          <a:lstStyle/>
          <a:p>
            <a:r>
              <a:rPr lang="fa-IR" b="1" dirty="0">
                <a:cs typeface="B Nazanin" panose="00000400000000000000" pitchFamily="2" charset="-78"/>
              </a:rPr>
              <a:t>آداب 1</a:t>
            </a:r>
            <a:br>
              <a:rPr lang="fa-IR" b="1" dirty="0">
                <a:cs typeface="B Nazanin" panose="00000400000000000000" pitchFamily="2" charset="-78"/>
              </a:rPr>
            </a:br>
            <a:br>
              <a:rPr lang="fa-IR" b="1" dirty="0">
                <a:cs typeface="B Nazanin" panose="00000400000000000000" pitchFamily="2" charset="-78"/>
              </a:rPr>
            </a:br>
            <a:r>
              <a:rPr lang="fa-IR" b="1" dirty="0">
                <a:cs typeface="B Nazanin" panose="00000400000000000000" pitchFamily="2" charset="-78"/>
              </a:rPr>
              <a:t>شایستگی ها و توانمندی های پزشک عمومی</a:t>
            </a:r>
            <a:br>
              <a:rPr lang="fa-IR" b="1" dirty="0">
                <a:cs typeface="B Nazanin" panose="00000400000000000000" pitchFamily="2" charset="-78"/>
              </a:rPr>
            </a:br>
            <a:endParaRPr lang="en-US" b="1" dirty="0">
              <a:cs typeface="B Nazanin" panose="000004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D6275-7684-43B3-9ADB-ACA997B34A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endParaRPr lang="fa-IR" sz="2800" dirty="0">
              <a:cs typeface="B Nazanin" panose="00000400000000000000" pitchFamily="2" charset="-78"/>
            </a:endParaRPr>
          </a:p>
          <a:p>
            <a:endParaRPr lang="fa-IR" sz="2800" dirty="0">
              <a:cs typeface="B Nazanin" panose="00000400000000000000" pitchFamily="2" charset="-78"/>
            </a:endParaRPr>
          </a:p>
          <a:p>
            <a:endParaRPr lang="fa-IR" sz="2800" dirty="0">
              <a:cs typeface="B Nazanin" panose="00000400000000000000" pitchFamily="2" charset="-78"/>
            </a:endParaRPr>
          </a:p>
          <a:p>
            <a:r>
              <a:rPr lang="fa-IR" sz="2800" dirty="0">
                <a:cs typeface="B Nazanin" panose="00000400000000000000" pitchFamily="2" charset="-78"/>
              </a:rPr>
              <a:t>دکتر الهام بوشهری</a:t>
            </a:r>
          </a:p>
          <a:p>
            <a:r>
              <a:rPr lang="fa-IR" sz="2800" dirty="0">
                <a:cs typeface="B Nazanin" panose="00000400000000000000" pitchFamily="2" charset="-78"/>
              </a:rPr>
              <a:t>عضو هیات علمی دانشگاه علوم پزشکی هرمزگان </a:t>
            </a:r>
          </a:p>
          <a:p>
            <a:r>
              <a:rPr lang="en-US" sz="2800" dirty="0">
                <a:cs typeface="B Nazanin" panose="00000400000000000000" pitchFamily="2" charset="-78"/>
              </a:rPr>
              <a:t>Medical educationist</a:t>
            </a:r>
            <a:endParaRPr lang="fa-IR" sz="28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14136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0D9AE-7C77-4886-93F1-30BF0F79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fa-IR" b="1" dirty="0">
                <a:solidFill>
                  <a:srgbClr val="C00000"/>
                </a:solidFill>
                <a:cs typeface="B Nazanin" panose="00000400000000000000" pitchFamily="2" charset="-78"/>
              </a:rPr>
              <a:t>تعریف پزشک</a:t>
            </a:r>
            <a:endParaRPr lang="en-US" b="1" dirty="0">
              <a:solidFill>
                <a:srgbClr val="C00000"/>
              </a:solidFill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53F2-70DB-4BBC-9A3E-5D6548A2C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7129"/>
            <a:ext cx="10515600" cy="4939834"/>
          </a:xfrm>
        </p:spPr>
        <p:txBody>
          <a:bodyPr>
            <a:noAutofit/>
          </a:bodyPr>
          <a:lstStyle/>
          <a:p>
            <a:pPr algn="just" rtl="1"/>
            <a:r>
              <a:rPr lang="fa-IR" dirty="0">
                <a:cs typeface="B Nazanin" panose="00000400000000000000" pitchFamily="2" charset="-78"/>
              </a:rPr>
              <a:t>تعریف: پزشکی شاخه ای از علوم کاربردی است که با هدف حفظ و ارتقای سلامت، به تشخیص، درمان و پیشگیری از بیماری ها می پردازد. این رشته در مقطع دکتری عمومی پایه و بنیان تمام شاخه های تخصصی پز شکی به شمار می رود و از این رو، کسب مهارت های مورد انتظار در این دوره نه تنها برای ارائه مناسب خدمات پزشکان عمومی به جامعه ضروری است، بلکه موفقیت در دوره های تخصصی و فوق تخصصی نیز مستلرم طی صحیح فرآیند طبیب شدن در دوره پزشکی عمومی می باشد. </a:t>
            </a:r>
          </a:p>
          <a:p>
            <a:pPr algn="just" rtl="1"/>
            <a:r>
              <a:rPr lang="fa-IR" dirty="0">
                <a:cs typeface="B Nazanin" panose="00000400000000000000" pitchFamily="2" charset="-78"/>
              </a:rPr>
              <a:t>دانش آموختگان پزشکی عمومی:</a:t>
            </a:r>
          </a:p>
          <a:p>
            <a:pPr marL="514350" indent="-514350" algn="just" rtl="1">
              <a:buFont typeface="+mj-lt"/>
              <a:buAutoNum type="arabicPeriod"/>
            </a:pPr>
            <a:r>
              <a:rPr lang="fa-IR" dirty="0">
                <a:cs typeface="B Nazanin" panose="00000400000000000000" pitchFamily="2" charset="-78"/>
              </a:rPr>
              <a:t>دانش، هنر و مهارت تشخیص، درمان و پیشگیری از بیماریها را از طریق کسب دانش ضروری درعلوم پایه پزشکی و شاخه های مختلف علوم بالینی</a:t>
            </a:r>
          </a:p>
          <a:p>
            <a:pPr marL="514350" indent="-514350" algn="just" rtl="1">
              <a:buFont typeface="+mj-lt"/>
              <a:buAutoNum type="arabicPeriod"/>
            </a:pPr>
            <a:r>
              <a:rPr lang="fa-IR" dirty="0">
                <a:cs typeface="B Nazanin" panose="00000400000000000000" pitchFamily="2" charset="-78"/>
              </a:rPr>
              <a:t>تمرین و ممارست در به کارگیری این علوم در مواجهه با بیماران و مراجعین و نیز تمرین و تکرار مهارت های عملی به دست می آورند.</a:t>
            </a:r>
          </a:p>
          <a:p>
            <a:pPr marL="514350" indent="-514350" algn="just" rtl="1">
              <a:buFont typeface="+mj-lt"/>
              <a:buAutoNum type="arabicPeriod"/>
            </a:pPr>
            <a:r>
              <a:rPr lang="fa-IR" dirty="0">
                <a:cs typeface="B Nazanin" panose="00000400000000000000" pitchFamily="2" charset="-78"/>
              </a:rPr>
              <a:t> به علاوه، به موازات کسب دانش و مهارت، به رشد اجتماعی و حرفه ای برای احراز شغل دست یابند.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87826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CC3A-AA8F-48BA-B879-5CAAE5C4F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7F65D-72D4-49D4-9CBF-D6199A80A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fa-IR" dirty="0">
                <a:cs typeface="B Nazanin" panose="00000400000000000000" pitchFamily="2" charset="-78"/>
              </a:rPr>
              <a:t>دانش آموختگان می توانند در جایگاه های زیر انجام وظیفه نمایند: 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مراکز بهداشتی درمانی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مطب های خصوصی و بیمارستان ها 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سازمان ها و موسسات مرتبط با خدمات سلامت 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مراکز آموزشی و تحقیقاتی مرتبط با علوم پزشکی 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24675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7BE6A-460F-4BE4-82F5-74620A1F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5181"/>
            <a:ext cx="10515600" cy="1325563"/>
          </a:xfrm>
        </p:spPr>
        <p:txBody>
          <a:bodyPr>
            <a:norm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سند توانمندی های دانش آموختگان دکترای پزشکی عمومی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458C52-F6F8-41DC-AE8C-447D8F006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5343" y="919723"/>
            <a:ext cx="7351058" cy="5524275"/>
          </a:xfrm>
        </p:spPr>
      </p:pic>
    </p:spTree>
    <p:extLst>
      <p:ext uri="{BB962C8B-B14F-4D97-AF65-F5344CB8AC3E}">
        <p14:creationId xmlns:p14="http://schemas.microsoft.com/office/powerpoint/2010/main" val="1875737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6C29-EB24-4621-AA25-09BEF8E9A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b="1" dirty="0">
                <a:cs typeface="B Nazanin" panose="00000400000000000000" pitchFamily="2" charset="-78"/>
              </a:rPr>
              <a:t>محور های توانمندی</a:t>
            </a:r>
            <a:endParaRPr lang="en-US" b="1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CE845-888A-4E60-951F-06836AC34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r">
              <a:buNone/>
            </a:pPr>
            <a:r>
              <a:rPr lang="fa-IR" b="1" dirty="0">
                <a:highlight>
                  <a:srgbClr val="FFFF00"/>
                </a:highlight>
                <a:cs typeface="B Nazanin" panose="00000400000000000000" pitchFamily="2" charset="-78"/>
              </a:rPr>
              <a:t>تخصصی:</a:t>
            </a:r>
          </a:p>
          <a:p>
            <a:pPr marL="0" indent="0" algn="r">
              <a:buNone/>
            </a:pPr>
            <a:r>
              <a:rPr lang="fa-IR" b="1" dirty="0">
                <a:highlight>
                  <a:srgbClr val="FFFF00"/>
                </a:highlight>
                <a:cs typeface="B Nazanin" panose="00000400000000000000" pitchFamily="2" charset="-78"/>
              </a:rPr>
              <a:t>مهارتهای‌بالینی‌</a:t>
            </a:r>
            <a:r>
              <a:rPr lang="fa-IR" b="1" dirty="0">
                <a:highlight>
                  <a:srgbClr val="FF0000"/>
                </a:highlight>
                <a:cs typeface="B Nazanin" panose="00000400000000000000" pitchFamily="2" charset="-78"/>
              </a:rPr>
              <a:t> </a:t>
            </a:r>
          </a:p>
          <a:p>
            <a:pPr marL="0" indent="0" algn="r">
              <a:buNone/>
            </a:pPr>
            <a:r>
              <a:rPr lang="fa-IR" b="1" dirty="0">
                <a:highlight>
                  <a:srgbClr val="FFFF00"/>
                </a:highlight>
                <a:cs typeface="B Nazanin" panose="00000400000000000000" pitchFamily="2" charset="-78"/>
              </a:rPr>
              <a:t>مراقبت‌بیمار (تشخیص‌،درمان‌،بازتوانی)</a:t>
            </a:r>
          </a:p>
          <a:p>
            <a:pPr marL="0" indent="0" algn="r">
              <a:buNone/>
            </a:pPr>
            <a:r>
              <a:rPr lang="fa-IR" b="1" dirty="0">
                <a:highlight>
                  <a:srgbClr val="FFFF00"/>
                </a:highlight>
                <a:cs typeface="B Nazanin" panose="00000400000000000000" pitchFamily="2" charset="-78"/>
              </a:rPr>
              <a:t>ارتقای‌ سلامت ‌و‌پیشگیری‌در‌نظام‌ سلامت ‌و‌نقش‌پزشک‌در‌آن </a:t>
            </a:r>
          </a:p>
          <a:p>
            <a:pPr marL="0" indent="0" algn="r">
              <a:buNone/>
            </a:pPr>
            <a:r>
              <a:rPr lang="fa-IR" b="1" dirty="0">
                <a:highlight>
                  <a:srgbClr val="FFFF00"/>
                </a:highlight>
                <a:cs typeface="B Nazanin" panose="00000400000000000000" pitchFamily="2" charset="-78"/>
              </a:rPr>
              <a:t>تعهد‌حرفه ای‌،اخلاق‌و‌حقوق‌پزشکی‌‌ </a:t>
            </a:r>
          </a:p>
          <a:p>
            <a:pPr marL="0" indent="0" algn="r">
              <a:buNone/>
            </a:pPr>
            <a:endParaRPr lang="fa-IR" b="1" dirty="0">
              <a:highlight>
                <a:srgbClr val="FFFF00"/>
              </a:highlight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b="1" dirty="0">
                <a:highlight>
                  <a:srgbClr val="FF0000"/>
                </a:highlight>
                <a:cs typeface="B Nazanin" panose="00000400000000000000" pitchFamily="2" charset="-78"/>
              </a:rPr>
              <a:t>فردی و شخصی:</a:t>
            </a:r>
            <a:endParaRPr lang="fa-IR" b="1" dirty="0">
              <a:highlight>
                <a:srgbClr val="FFFF00"/>
              </a:highlight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b="1" dirty="0">
                <a:highlight>
                  <a:srgbClr val="FF0000"/>
                </a:highlight>
                <a:cs typeface="B Nazanin" panose="00000400000000000000" pitchFamily="2" charset="-78"/>
              </a:rPr>
              <a:t>مهارتهای‌برقراری‌ارتباط</a:t>
            </a:r>
            <a:r>
              <a:rPr lang="fa-IR" b="1" dirty="0">
                <a:cs typeface="B Nazanin" panose="00000400000000000000" pitchFamily="2" charset="-78"/>
              </a:rPr>
              <a:t>‌ </a:t>
            </a:r>
          </a:p>
          <a:p>
            <a:pPr marL="0" indent="0" algn="r">
              <a:buNone/>
            </a:pPr>
            <a:r>
              <a:rPr lang="fa-IR" b="1" dirty="0">
                <a:highlight>
                  <a:srgbClr val="FF0000"/>
                </a:highlight>
                <a:cs typeface="B Nazanin" panose="00000400000000000000" pitchFamily="2" charset="-78"/>
              </a:rPr>
              <a:t>مهارتهای‌تصمیم‌گیری‌،استدلال و حل مسئله</a:t>
            </a:r>
          </a:p>
          <a:p>
            <a:pPr marL="0" indent="0" algn="r">
              <a:buNone/>
            </a:pPr>
            <a:r>
              <a:rPr lang="fa-IR" b="1" dirty="0">
                <a:highlight>
                  <a:srgbClr val="FF0000"/>
                </a:highlight>
                <a:cs typeface="B Nazanin" panose="00000400000000000000" pitchFamily="2" charset="-78"/>
              </a:rPr>
              <a:t>پیشرفت‌فردی‌و‌فراگیری‌مستمر </a:t>
            </a:r>
          </a:p>
          <a:p>
            <a:pPr marL="0" indent="0" algn="r">
              <a:buNone/>
            </a:pPr>
            <a:endParaRPr lang="en-US" b="1" dirty="0">
              <a:highlight>
                <a:srgbClr val="FF0000"/>
              </a:highlight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801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104C-B17D-45D4-95DC-68FA10086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0D6714-8594-49E4-9DEA-B636620CA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2789" y="1954307"/>
            <a:ext cx="9626422" cy="2544916"/>
          </a:xfrm>
        </p:spPr>
      </p:pic>
    </p:spTree>
    <p:extLst>
      <p:ext uri="{BB962C8B-B14F-4D97-AF65-F5344CB8AC3E}">
        <p14:creationId xmlns:p14="http://schemas.microsoft.com/office/powerpoint/2010/main" val="3606866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7B50-D41C-48D2-8E57-97D57EAFA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5B441D-B87C-4D5C-A23D-5605EB653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967" y="2218034"/>
            <a:ext cx="10382892" cy="2049028"/>
          </a:xfrm>
        </p:spPr>
      </p:pic>
    </p:spTree>
    <p:extLst>
      <p:ext uri="{BB962C8B-B14F-4D97-AF65-F5344CB8AC3E}">
        <p14:creationId xmlns:p14="http://schemas.microsoft.com/office/powerpoint/2010/main" val="2526168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DE00E-9477-456D-A95A-DD975E40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5BF755-CE1D-4041-BD7B-98FE9C000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3589" y="1852053"/>
            <a:ext cx="9012926" cy="3396607"/>
          </a:xfrm>
        </p:spPr>
      </p:pic>
    </p:spTree>
    <p:extLst>
      <p:ext uri="{BB962C8B-B14F-4D97-AF65-F5344CB8AC3E}">
        <p14:creationId xmlns:p14="http://schemas.microsoft.com/office/powerpoint/2010/main" val="1939521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F1E40-687C-42AE-90AA-480F6392F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4242CD-7741-483F-9E7F-AD15913AA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164" y="4637846"/>
            <a:ext cx="11907672" cy="1624674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035B71-3D01-4458-98E6-1403C91D1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54" y="1407817"/>
            <a:ext cx="11837222" cy="291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922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ED64-CCAF-4773-ABAE-7B076D5B8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2EEA65-195E-4AC1-8DA9-48B6E18F3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136" y="2160962"/>
            <a:ext cx="10995700" cy="2536076"/>
          </a:xfrm>
        </p:spPr>
      </p:pic>
    </p:spTree>
    <p:extLst>
      <p:ext uri="{BB962C8B-B14F-4D97-AF65-F5344CB8AC3E}">
        <p14:creationId xmlns:p14="http://schemas.microsoft.com/office/powerpoint/2010/main" val="3911643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AF1E-34E2-48A4-A450-723149497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CF154-4FEE-4090-83F6-7F23ECEDA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FDD66-B89D-43DA-A8F4-A7C9BF75F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942" y="1998678"/>
            <a:ext cx="8518965" cy="372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504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DE36-D749-4F61-96FF-A3FDF4CA1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59292-282B-45AF-9E3B-AF39990C0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B3795F-6E43-490F-9074-535EB16E6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532" y="2104300"/>
            <a:ext cx="8848384" cy="363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93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41B05-88C9-4C8F-9F81-E5D01125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b="1" dirty="0">
                <a:solidFill>
                  <a:srgbClr val="C00000"/>
                </a:solidFill>
                <a:cs typeface="B Nazanin" panose="00000400000000000000" pitchFamily="2" charset="-78"/>
              </a:rPr>
              <a:t>برای کسب صلاحیت ها چه دوره آموزشی طی می شود؟</a:t>
            </a:r>
            <a:endParaRPr lang="en-US" b="1" dirty="0">
              <a:solidFill>
                <a:srgbClr val="C00000"/>
              </a:solidFill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E549E-821E-4C94-B313-91995571B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علوم پایه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مقدمات بالینی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کارآموزی 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کارورزی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46659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3C186-1765-4D4B-A4DA-5ACE9C5FE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b="1" dirty="0">
                <a:solidFill>
                  <a:srgbClr val="C00000"/>
                </a:solidFill>
                <a:cs typeface="B Nazanin" panose="00000400000000000000" pitchFamily="2" charset="-78"/>
              </a:rPr>
              <a:t>شرایط ارتقا در هر دوره</a:t>
            </a:r>
            <a:endParaRPr lang="en-US" b="1" dirty="0">
              <a:solidFill>
                <a:srgbClr val="C00000"/>
              </a:solidFill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76CD9-DA47-4E7D-976A-3F46A987C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en-US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ورود به مرحله مقدمات بالینی منوط به کسب نمره قبولی در آزمون جامع علوم پایه است و میانگین معدل 12 از دروس علوم پایه</a:t>
            </a:r>
          </a:p>
          <a:p>
            <a:pPr algn="r" rtl="1"/>
            <a:endParaRPr lang="fa-IR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ورود به مرحله چهارم( کارورزی ) منوط به کسب نمره قبولی در آزمون جامع پیش کارورزی است و میانگین معدل 12 از دروس مقدمات بالینی و کارآموزی و ثبت موضوع پایان نامه</a:t>
            </a:r>
          </a:p>
          <a:p>
            <a:pPr algn="r" rtl="1"/>
            <a:endParaRPr lang="en-US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فارغ التحصیلی دانشجو از دوره پزشکی منوط به موفقیت در آزمون عملی صلاحیت بالینی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و کسب نمره قبولی از بخش های دوران کارورزی است</a:t>
            </a:r>
            <a:endParaRPr lang="en-US" dirty="0">
              <a:cs typeface="B Nazanin" panose="00000400000000000000" pitchFamily="2" charset="-78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07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8C29A-0EEB-499D-903C-F1A4C21B7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2542A-C49F-45AD-A9E0-1986FB5F9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a-IR" b="1" dirty="0"/>
              <a:t>ممنون از توجهتان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66729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1797</TotalTime>
  <Words>391</Words>
  <Application>Microsoft Office PowerPoint</Application>
  <PresentationFormat>Widescreen</PresentationFormat>
  <Paragraphs>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آداب 1  شایستگی ها و توانمندی های پزشک عمومی </vt:lpstr>
      <vt:lpstr>تعریف پزشک</vt:lpstr>
      <vt:lpstr>PowerPoint Presentation</vt:lpstr>
      <vt:lpstr>سند توانمندی های دانش آموختگان دکترای پزشکی عمومی</vt:lpstr>
      <vt:lpstr>محور های توانمندی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برای کسب صلاحیت ها چه دوره آموزشی طی می شود؟</vt:lpstr>
      <vt:lpstr>شرایط ارتقا در هر دوره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13</cp:revision>
  <dcterms:created xsi:type="dcterms:W3CDTF">2024-11-08T08:13:44Z</dcterms:created>
  <dcterms:modified xsi:type="dcterms:W3CDTF">2025-04-17T08:38:03Z</dcterms:modified>
</cp:coreProperties>
</file>