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2" r:id="rId8"/>
    <p:sldId id="266" r:id="rId9"/>
    <p:sldId id="275" r:id="rId10"/>
    <p:sldId id="276" r:id="rId11"/>
    <p:sldId id="269" r:id="rId12"/>
    <p:sldId id="277" r:id="rId13"/>
    <p:sldId id="278" r:id="rId14"/>
    <p:sldId id="264" r:id="rId15"/>
    <p:sldId id="263" r:id="rId16"/>
    <p:sldId id="265" r:id="rId17"/>
    <p:sldId id="279" r:id="rId18"/>
    <p:sldId id="280" r:id="rId19"/>
    <p:sldId id="267" r:id="rId20"/>
    <p:sldId id="268" r:id="rId21"/>
    <p:sldId id="281" r:id="rId22"/>
    <p:sldId id="270" r:id="rId23"/>
    <p:sldId id="284" r:id="rId24"/>
    <p:sldId id="285" r:id="rId25"/>
    <p:sldId id="286" r:id="rId26"/>
    <p:sldId id="287" r:id="rId27"/>
    <p:sldId id="296" r:id="rId28"/>
    <p:sldId id="288" r:id="rId29"/>
    <p:sldId id="289" r:id="rId30"/>
    <p:sldId id="290" r:id="rId31"/>
    <p:sldId id="295" r:id="rId32"/>
    <p:sldId id="291" r:id="rId33"/>
    <p:sldId id="297" r:id="rId34"/>
    <p:sldId id="283" r:id="rId35"/>
    <p:sldId id="292" r:id="rId36"/>
    <p:sldId id="298" r:id="rId37"/>
    <p:sldId id="293" r:id="rId38"/>
    <p:sldId id="294" r:id="rId39"/>
    <p:sldId id="272" r:id="rId40"/>
    <p:sldId id="299" r:id="rId41"/>
    <p:sldId id="300" r:id="rId42"/>
    <p:sldId id="301" r:id="rId43"/>
    <p:sldId id="273" r:id="rId44"/>
    <p:sldId id="282" r:id="rId45"/>
    <p:sldId id="274" r:id="rId46"/>
    <p:sldId id="303" r:id="rId47"/>
    <p:sldId id="302"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47" autoAdjust="0"/>
    <p:restoredTop sz="94660"/>
  </p:normalViewPr>
  <p:slideViewPr>
    <p:cSldViewPr snapToGrid="0">
      <p:cViewPr varScale="1">
        <p:scale>
          <a:sx n="72" d="100"/>
          <a:sy n="72" d="100"/>
        </p:scale>
        <p:origin x="6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89E9E5-F84C-4BEB-88F9-258EF3DCF6AA}" type="doc">
      <dgm:prSet loTypeId="urn:microsoft.com/office/officeart/2005/8/layout/cycle4" loCatId="cycle" qsTypeId="urn:microsoft.com/office/officeart/2005/8/quickstyle/simple1" qsCatId="simple" csTypeId="urn:microsoft.com/office/officeart/2005/8/colors/colorful3" csCatId="colorful" phldr="0"/>
      <dgm:spPr/>
      <dgm:t>
        <a:bodyPr/>
        <a:lstStyle/>
        <a:p>
          <a:endParaRPr lang="en-US"/>
        </a:p>
      </dgm:t>
    </dgm:pt>
    <dgm:pt modelId="{52A92D9A-DB6C-459C-BA7A-92F1D2C8A750}">
      <dgm:prSet phldrT="[Text]" phldr="1"/>
      <dgm:spPr/>
      <dgm:t>
        <a:bodyPr/>
        <a:lstStyle/>
        <a:p>
          <a:endParaRPr lang="en-US"/>
        </a:p>
      </dgm:t>
    </dgm:pt>
    <dgm:pt modelId="{EE064D23-8FB6-4285-8A7C-E47EF5875916}" type="parTrans" cxnId="{3D3DBEB2-BFEF-4745-8779-8CD721F4AE42}">
      <dgm:prSet/>
      <dgm:spPr/>
      <dgm:t>
        <a:bodyPr/>
        <a:lstStyle/>
        <a:p>
          <a:endParaRPr lang="en-US"/>
        </a:p>
      </dgm:t>
    </dgm:pt>
    <dgm:pt modelId="{DDD793D0-BFF9-435A-9353-4DA7559F0959}" type="sibTrans" cxnId="{3D3DBEB2-BFEF-4745-8779-8CD721F4AE42}">
      <dgm:prSet/>
      <dgm:spPr/>
      <dgm:t>
        <a:bodyPr/>
        <a:lstStyle/>
        <a:p>
          <a:endParaRPr lang="en-US"/>
        </a:p>
      </dgm:t>
    </dgm:pt>
    <dgm:pt modelId="{8CB895D8-C6AD-4D41-AA3E-CF824122EC6A}">
      <dgm:prSet phldrT="[Text]" phldr="1"/>
      <dgm:spPr/>
      <dgm:t>
        <a:bodyPr/>
        <a:lstStyle/>
        <a:p>
          <a:endParaRPr lang="en-US"/>
        </a:p>
      </dgm:t>
    </dgm:pt>
    <dgm:pt modelId="{87A7FAEA-BCED-4632-AC86-55B036CF114D}" type="parTrans" cxnId="{E5FAE08A-118D-4462-9489-33B2699119E6}">
      <dgm:prSet/>
      <dgm:spPr/>
      <dgm:t>
        <a:bodyPr/>
        <a:lstStyle/>
        <a:p>
          <a:endParaRPr lang="en-US"/>
        </a:p>
      </dgm:t>
    </dgm:pt>
    <dgm:pt modelId="{8F32618F-D865-4A59-ABC2-B40DB097EBFA}" type="sibTrans" cxnId="{E5FAE08A-118D-4462-9489-33B2699119E6}">
      <dgm:prSet/>
      <dgm:spPr/>
      <dgm:t>
        <a:bodyPr/>
        <a:lstStyle/>
        <a:p>
          <a:endParaRPr lang="en-US"/>
        </a:p>
      </dgm:t>
    </dgm:pt>
    <dgm:pt modelId="{73C16142-EB6C-42F3-8DBB-C873728EE092}">
      <dgm:prSet phldrT="[Text]" phldr="1"/>
      <dgm:spPr/>
      <dgm:t>
        <a:bodyPr/>
        <a:lstStyle/>
        <a:p>
          <a:endParaRPr lang="en-US"/>
        </a:p>
      </dgm:t>
    </dgm:pt>
    <dgm:pt modelId="{34805813-E4FD-4AB7-B44D-5733AE9EB4AF}" type="parTrans" cxnId="{A7A40B37-22D7-4968-A877-1EEBC85DA7A6}">
      <dgm:prSet/>
      <dgm:spPr/>
      <dgm:t>
        <a:bodyPr/>
        <a:lstStyle/>
        <a:p>
          <a:endParaRPr lang="en-US"/>
        </a:p>
      </dgm:t>
    </dgm:pt>
    <dgm:pt modelId="{E6B5C810-A794-4DAD-9C51-63C50B2CF613}" type="sibTrans" cxnId="{A7A40B37-22D7-4968-A877-1EEBC85DA7A6}">
      <dgm:prSet/>
      <dgm:spPr/>
      <dgm:t>
        <a:bodyPr/>
        <a:lstStyle/>
        <a:p>
          <a:endParaRPr lang="en-US"/>
        </a:p>
      </dgm:t>
    </dgm:pt>
    <dgm:pt modelId="{8CCBF394-85B7-4B0E-B38D-F8EBC8C32241}">
      <dgm:prSet phldrT="[Text]" phldr="1"/>
      <dgm:spPr/>
      <dgm:t>
        <a:bodyPr/>
        <a:lstStyle/>
        <a:p>
          <a:endParaRPr lang="en-US"/>
        </a:p>
      </dgm:t>
    </dgm:pt>
    <dgm:pt modelId="{2F3C6193-6E51-404B-8C38-E0163D271776}" type="parTrans" cxnId="{E609B10F-F212-4529-9D4D-77F07EB0F4F5}">
      <dgm:prSet/>
      <dgm:spPr/>
      <dgm:t>
        <a:bodyPr/>
        <a:lstStyle/>
        <a:p>
          <a:endParaRPr lang="en-US"/>
        </a:p>
      </dgm:t>
    </dgm:pt>
    <dgm:pt modelId="{81A991A2-EDF7-49F0-9E7E-693B47FCF0BF}" type="sibTrans" cxnId="{E609B10F-F212-4529-9D4D-77F07EB0F4F5}">
      <dgm:prSet/>
      <dgm:spPr/>
      <dgm:t>
        <a:bodyPr/>
        <a:lstStyle/>
        <a:p>
          <a:endParaRPr lang="en-US"/>
        </a:p>
      </dgm:t>
    </dgm:pt>
    <dgm:pt modelId="{26FEB7ED-B6EA-442E-8EA2-B1607C2EA5FF}">
      <dgm:prSet phldrT="[Text]" phldr="1"/>
      <dgm:spPr/>
      <dgm:t>
        <a:bodyPr/>
        <a:lstStyle/>
        <a:p>
          <a:endParaRPr lang="en-US"/>
        </a:p>
      </dgm:t>
    </dgm:pt>
    <dgm:pt modelId="{9BB8A5C9-A98D-483E-BA92-B4A850A5C65E}" type="parTrans" cxnId="{A848FA11-BD03-485E-A801-7A32BE03206C}">
      <dgm:prSet/>
      <dgm:spPr/>
      <dgm:t>
        <a:bodyPr/>
        <a:lstStyle/>
        <a:p>
          <a:endParaRPr lang="en-US"/>
        </a:p>
      </dgm:t>
    </dgm:pt>
    <dgm:pt modelId="{4CE39B1D-1F44-4849-A3E5-29BE5B25E668}" type="sibTrans" cxnId="{A848FA11-BD03-485E-A801-7A32BE03206C}">
      <dgm:prSet/>
      <dgm:spPr/>
      <dgm:t>
        <a:bodyPr/>
        <a:lstStyle/>
        <a:p>
          <a:endParaRPr lang="en-US"/>
        </a:p>
      </dgm:t>
    </dgm:pt>
    <dgm:pt modelId="{B35D7859-61C7-4DB6-BE79-A16FDA0C23CD}">
      <dgm:prSet phldrT="[Text]" phldr="1"/>
      <dgm:spPr/>
      <dgm:t>
        <a:bodyPr/>
        <a:lstStyle/>
        <a:p>
          <a:endParaRPr lang="en-US"/>
        </a:p>
      </dgm:t>
    </dgm:pt>
    <dgm:pt modelId="{4F05DF06-89C8-4443-8B4E-49ADA069200F}" type="parTrans" cxnId="{39456322-7AC6-4D6D-8EC6-D03F81720AED}">
      <dgm:prSet/>
      <dgm:spPr/>
      <dgm:t>
        <a:bodyPr/>
        <a:lstStyle/>
        <a:p>
          <a:endParaRPr lang="en-US"/>
        </a:p>
      </dgm:t>
    </dgm:pt>
    <dgm:pt modelId="{A9595EDB-8550-43EA-8BB7-6E0704481FAA}" type="sibTrans" cxnId="{39456322-7AC6-4D6D-8EC6-D03F81720AED}">
      <dgm:prSet/>
      <dgm:spPr/>
      <dgm:t>
        <a:bodyPr/>
        <a:lstStyle/>
        <a:p>
          <a:endParaRPr lang="en-US"/>
        </a:p>
      </dgm:t>
    </dgm:pt>
    <dgm:pt modelId="{439389DB-7D91-4DB9-AFC8-919670882080}">
      <dgm:prSet phldrT="[Text]" phldr="1"/>
      <dgm:spPr/>
      <dgm:t>
        <a:bodyPr/>
        <a:lstStyle/>
        <a:p>
          <a:endParaRPr lang="en-US"/>
        </a:p>
      </dgm:t>
    </dgm:pt>
    <dgm:pt modelId="{6159D539-E5C0-4494-94B9-B809506B996B}" type="parTrans" cxnId="{86ADBCEB-1167-46D0-88BD-A44B95000624}">
      <dgm:prSet/>
      <dgm:spPr/>
      <dgm:t>
        <a:bodyPr/>
        <a:lstStyle/>
        <a:p>
          <a:endParaRPr lang="en-US"/>
        </a:p>
      </dgm:t>
    </dgm:pt>
    <dgm:pt modelId="{CBF63CDB-88E7-40C6-84DB-F66E3B073D56}" type="sibTrans" cxnId="{86ADBCEB-1167-46D0-88BD-A44B95000624}">
      <dgm:prSet/>
      <dgm:spPr/>
      <dgm:t>
        <a:bodyPr/>
        <a:lstStyle/>
        <a:p>
          <a:endParaRPr lang="en-US"/>
        </a:p>
      </dgm:t>
    </dgm:pt>
    <dgm:pt modelId="{0DF27CA0-8A55-4AB0-B6E3-FB7B1907CFA3}">
      <dgm:prSet phldrT="[Text]" phldr="1"/>
      <dgm:spPr/>
      <dgm:t>
        <a:bodyPr/>
        <a:lstStyle/>
        <a:p>
          <a:endParaRPr lang="en-US"/>
        </a:p>
      </dgm:t>
    </dgm:pt>
    <dgm:pt modelId="{65CB36C4-D47F-4E40-9019-DA49094C35A0}" type="parTrans" cxnId="{AB262B68-C0E0-40D1-A017-A100E67523C2}">
      <dgm:prSet/>
      <dgm:spPr/>
      <dgm:t>
        <a:bodyPr/>
        <a:lstStyle/>
        <a:p>
          <a:endParaRPr lang="en-US"/>
        </a:p>
      </dgm:t>
    </dgm:pt>
    <dgm:pt modelId="{1D08C5CE-94BF-4AB1-81CA-51E5725A2311}" type="sibTrans" cxnId="{AB262B68-C0E0-40D1-A017-A100E67523C2}">
      <dgm:prSet/>
      <dgm:spPr/>
      <dgm:t>
        <a:bodyPr/>
        <a:lstStyle/>
        <a:p>
          <a:endParaRPr lang="en-US"/>
        </a:p>
      </dgm:t>
    </dgm:pt>
    <dgm:pt modelId="{CCC34921-7B64-4243-B09E-23C4C473122A}" type="pres">
      <dgm:prSet presAssocID="{4089E9E5-F84C-4BEB-88F9-258EF3DCF6AA}" presName="cycleMatrixDiagram" presStyleCnt="0">
        <dgm:presLayoutVars>
          <dgm:chMax val="1"/>
          <dgm:dir/>
          <dgm:animLvl val="lvl"/>
          <dgm:resizeHandles val="exact"/>
        </dgm:presLayoutVars>
      </dgm:prSet>
      <dgm:spPr/>
    </dgm:pt>
    <dgm:pt modelId="{D689B4ED-384E-4D9D-86ED-6E41A9391AF5}" type="pres">
      <dgm:prSet presAssocID="{4089E9E5-F84C-4BEB-88F9-258EF3DCF6AA}" presName="children" presStyleCnt="0"/>
      <dgm:spPr/>
    </dgm:pt>
    <dgm:pt modelId="{4E05485D-A1BB-4132-BB62-F13964822CA9}" type="pres">
      <dgm:prSet presAssocID="{4089E9E5-F84C-4BEB-88F9-258EF3DCF6AA}" presName="child1group" presStyleCnt="0"/>
      <dgm:spPr/>
    </dgm:pt>
    <dgm:pt modelId="{5267E5CD-B723-46FE-99E8-24DF7E34E7B7}" type="pres">
      <dgm:prSet presAssocID="{4089E9E5-F84C-4BEB-88F9-258EF3DCF6AA}" presName="child1" presStyleLbl="bgAcc1" presStyleIdx="0" presStyleCnt="4"/>
      <dgm:spPr/>
    </dgm:pt>
    <dgm:pt modelId="{3C329484-EEA1-4D72-BA1A-5B5DF04C660D}" type="pres">
      <dgm:prSet presAssocID="{4089E9E5-F84C-4BEB-88F9-258EF3DCF6AA}" presName="child1Text" presStyleLbl="bgAcc1" presStyleIdx="0" presStyleCnt="4">
        <dgm:presLayoutVars>
          <dgm:bulletEnabled val="1"/>
        </dgm:presLayoutVars>
      </dgm:prSet>
      <dgm:spPr/>
    </dgm:pt>
    <dgm:pt modelId="{C9FC2F06-A219-41C1-9402-58F19181F841}" type="pres">
      <dgm:prSet presAssocID="{4089E9E5-F84C-4BEB-88F9-258EF3DCF6AA}" presName="child2group" presStyleCnt="0"/>
      <dgm:spPr/>
    </dgm:pt>
    <dgm:pt modelId="{439FE522-F562-4561-B87D-76935FB2B3A7}" type="pres">
      <dgm:prSet presAssocID="{4089E9E5-F84C-4BEB-88F9-258EF3DCF6AA}" presName="child2" presStyleLbl="bgAcc1" presStyleIdx="1" presStyleCnt="4"/>
      <dgm:spPr/>
    </dgm:pt>
    <dgm:pt modelId="{398D7F80-14E6-4C49-B10F-CE30032C56F7}" type="pres">
      <dgm:prSet presAssocID="{4089E9E5-F84C-4BEB-88F9-258EF3DCF6AA}" presName="child2Text" presStyleLbl="bgAcc1" presStyleIdx="1" presStyleCnt="4">
        <dgm:presLayoutVars>
          <dgm:bulletEnabled val="1"/>
        </dgm:presLayoutVars>
      </dgm:prSet>
      <dgm:spPr/>
    </dgm:pt>
    <dgm:pt modelId="{98D12DCD-F64C-4DB3-8DCC-481ABFB7D316}" type="pres">
      <dgm:prSet presAssocID="{4089E9E5-F84C-4BEB-88F9-258EF3DCF6AA}" presName="child3group" presStyleCnt="0"/>
      <dgm:spPr/>
    </dgm:pt>
    <dgm:pt modelId="{BD6871D9-977A-41A1-8674-3655E2FEE9E1}" type="pres">
      <dgm:prSet presAssocID="{4089E9E5-F84C-4BEB-88F9-258EF3DCF6AA}" presName="child3" presStyleLbl="bgAcc1" presStyleIdx="2" presStyleCnt="4"/>
      <dgm:spPr/>
    </dgm:pt>
    <dgm:pt modelId="{43D27382-C84A-4812-B739-672CFBC717F7}" type="pres">
      <dgm:prSet presAssocID="{4089E9E5-F84C-4BEB-88F9-258EF3DCF6AA}" presName="child3Text" presStyleLbl="bgAcc1" presStyleIdx="2" presStyleCnt="4">
        <dgm:presLayoutVars>
          <dgm:bulletEnabled val="1"/>
        </dgm:presLayoutVars>
      </dgm:prSet>
      <dgm:spPr/>
    </dgm:pt>
    <dgm:pt modelId="{947AA6CD-9D6B-4250-B1BE-DABC799E004B}" type="pres">
      <dgm:prSet presAssocID="{4089E9E5-F84C-4BEB-88F9-258EF3DCF6AA}" presName="child4group" presStyleCnt="0"/>
      <dgm:spPr/>
    </dgm:pt>
    <dgm:pt modelId="{800B1508-DB65-4359-83E3-0FE2376D48DD}" type="pres">
      <dgm:prSet presAssocID="{4089E9E5-F84C-4BEB-88F9-258EF3DCF6AA}" presName="child4" presStyleLbl="bgAcc1" presStyleIdx="3" presStyleCnt="4"/>
      <dgm:spPr/>
    </dgm:pt>
    <dgm:pt modelId="{E16672E2-1FEE-461D-A532-64A7FDA41421}" type="pres">
      <dgm:prSet presAssocID="{4089E9E5-F84C-4BEB-88F9-258EF3DCF6AA}" presName="child4Text" presStyleLbl="bgAcc1" presStyleIdx="3" presStyleCnt="4">
        <dgm:presLayoutVars>
          <dgm:bulletEnabled val="1"/>
        </dgm:presLayoutVars>
      </dgm:prSet>
      <dgm:spPr/>
    </dgm:pt>
    <dgm:pt modelId="{C1D41707-6EE3-4A28-B57F-C36888166752}" type="pres">
      <dgm:prSet presAssocID="{4089E9E5-F84C-4BEB-88F9-258EF3DCF6AA}" presName="childPlaceholder" presStyleCnt="0"/>
      <dgm:spPr/>
    </dgm:pt>
    <dgm:pt modelId="{D2F8F398-7784-4FB0-82EA-949E7FF1DED1}" type="pres">
      <dgm:prSet presAssocID="{4089E9E5-F84C-4BEB-88F9-258EF3DCF6AA}" presName="circle" presStyleCnt="0"/>
      <dgm:spPr/>
    </dgm:pt>
    <dgm:pt modelId="{B119CE51-BDE9-421A-B8E3-DD5AE2677BA5}" type="pres">
      <dgm:prSet presAssocID="{4089E9E5-F84C-4BEB-88F9-258EF3DCF6AA}" presName="quadrant1" presStyleLbl="node1" presStyleIdx="0" presStyleCnt="4">
        <dgm:presLayoutVars>
          <dgm:chMax val="1"/>
          <dgm:bulletEnabled val="1"/>
        </dgm:presLayoutVars>
      </dgm:prSet>
      <dgm:spPr/>
    </dgm:pt>
    <dgm:pt modelId="{7714F051-B852-46A8-B0D2-D25BF78560F7}" type="pres">
      <dgm:prSet presAssocID="{4089E9E5-F84C-4BEB-88F9-258EF3DCF6AA}" presName="quadrant2" presStyleLbl="node1" presStyleIdx="1" presStyleCnt="4" custLinFactNeighborX="-1356">
        <dgm:presLayoutVars>
          <dgm:chMax val="1"/>
          <dgm:bulletEnabled val="1"/>
        </dgm:presLayoutVars>
      </dgm:prSet>
      <dgm:spPr/>
    </dgm:pt>
    <dgm:pt modelId="{73C763F8-E791-4AAE-A4C2-EB9466A50214}" type="pres">
      <dgm:prSet presAssocID="{4089E9E5-F84C-4BEB-88F9-258EF3DCF6AA}" presName="quadrant3" presStyleLbl="node1" presStyleIdx="2" presStyleCnt="4">
        <dgm:presLayoutVars>
          <dgm:chMax val="1"/>
          <dgm:bulletEnabled val="1"/>
        </dgm:presLayoutVars>
      </dgm:prSet>
      <dgm:spPr/>
    </dgm:pt>
    <dgm:pt modelId="{CFFA35AB-E295-4CB0-B804-DDCF0034CC8C}" type="pres">
      <dgm:prSet presAssocID="{4089E9E5-F84C-4BEB-88F9-258EF3DCF6AA}" presName="quadrant4" presStyleLbl="node1" presStyleIdx="3" presStyleCnt="4">
        <dgm:presLayoutVars>
          <dgm:chMax val="1"/>
          <dgm:bulletEnabled val="1"/>
        </dgm:presLayoutVars>
      </dgm:prSet>
      <dgm:spPr/>
    </dgm:pt>
    <dgm:pt modelId="{83B24878-53E9-4D2B-8EC4-FDBA5DB26D1D}" type="pres">
      <dgm:prSet presAssocID="{4089E9E5-F84C-4BEB-88F9-258EF3DCF6AA}" presName="quadrantPlaceholder" presStyleCnt="0"/>
      <dgm:spPr/>
    </dgm:pt>
    <dgm:pt modelId="{0403D827-B95F-43D7-947D-446D5033481D}" type="pres">
      <dgm:prSet presAssocID="{4089E9E5-F84C-4BEB-88F9-258EF3DCF6AA}" presName="center1" presStyleLbl="fgShp" presStyleIdx="0" presStyleCnt="2"/>
      <dgm:spPr/>
    </dgm:pt>
    <dgm:pt modelId="{70ADCBFF-C489-4737-B9D7-93B50E10C0F1}" type="pres">
      <dgm:prSet presAssocID="{4089E9E5-F84C-4BEB-88F9-258EF3DCF6AA}" presName="center2" presStyleLbl="fgShp" presStyleIdx="1" presStyleCnt="2"/>
      <dgm:spPr/>
    </dgm:pt>
  </dgm:ptLst>
  <dgm:cxnLst>
    <dgm:cxn modelId="{E609B10F-F212-4529-9D4D-77F07EB0F4F5}" srcId="{73C16142-EB6C-42F3-8DBB-C873728EE092}" destId="{8CCBF394-85B7-4B0E-B38D-F8EBC8C32241}" srcOrd="0" destOrd="0" parTransId="{2F3C6193-6E51-404B-8C38-E0163D271776}" sibTransId="{81A991A2-EDF7-49F0-9E7E-693B47FCF0BF}"/>
    <dgm:cxn modelId="{A848FA11-BD03-485E-A801-7A32BE03206C}" srcId="{4089E9E5-F84C-4BEB-88F9-258EF3DCF6AA}" destId="{26FEB7ED-B6EA-442E-8EA2-B1607C2EA5FF}" srcOrd="2" destOrd="0" parTransId="{9BB8A5C9-A98D-483E-BA92-B4A850A5C65E}" sibTransId="{4CE39B1D-1F44-4849-A3E5-29BE5B25E668}"/>
    <dgm:cxn modelId="{39456322-7AC6-4D6D-8EC6-D03F81720AED}" srcId="{26FEB7ED-B6EA-442E-8EA2-B1607C2EA5FF}" destId="{B35D7859-61C7-4DB6-BE79-A16FDA0C23CD}" srcOrd="0" destOrd="0" parTransId="{4F05DF06-89C8-4443-8B4E-49ADA069200F}" sibTransId="{A9595EDB-8550-43EA-8BB7-6E0704481FAA}"/>
    <dgm:cxn modelId="{A7A40B37-22D7-4968-A877-1EEBC85DA7A6}" srcId="{4089E9E5-F84C-4BEB-88F9-258EF3DCF6AA}" destId="{73C16142-EB6C-42F3-8DBB-C873728EE092}" srcOrd="1" destOrd="0" parTransId="{34805813-E4FD-4AB7-B44D-5733AE9EB4AF}" sibTransId="{E6B5C810-A794-4DAD-9C51-63C50B2CF613}"/>
    <dgm:cxn modelId="{1BC38C38-3A69-4A17-B1F6-266463604D78}" type="presOf" srcId="{439389DB-7D91-4DB9-AFC8-919670882080}" destId="{CFFA35AB-E295-4CB0-B804-DDCF0034CC8C}" srcOrd="0" destOrd="0" presId="urn:microsoft.com/office/officeart/2005/8/layout/cycle4"/>
    <dgm:cxn modelId="{8617A943-72DE-4428-B4C4-C2EF907E5734}" type="presOf" srcId="{8CCBF394-85B7-4B0E-B38D-F8EBC8C32241}" destId="{398D7F80-14E6-4C49-B10F-CE30032C56F7}" srcOrd="1" destOrd="0" presId="urn:microsoft.com/office/officeart/2005/8/layout/cycle4"/>
    <dgm:cxn modelId="{75F3DE65-DBBB-4101-9076-41335DD322AA}" type="presOf" srcId="{8CCBF394-85B7-4B0E-B38D-F8EBC8C32241}" destId="{439FE522-F562-4561-B87D-76935FB2B3A7}" srcOrd="0" destOrd="0" presId="urn:microsoft.com/office/officeart/2005/8/layout/cycle4"/>
    <dgm:cxn modelId="{19FF8F46-CD68-47DD-984E-A8477CF559B1}" type="presOf" srcId="{8CB895D8-C6AD-4D41-AA3E-CF824122EC6A}" destId="{3C329484-EEA1-4D72-BA1A-5B5DF04C660D}" srcOrd="1" destOrd="0" presId="urn:microsoft.com/office/officeart/2005/8/layout/cycle4"/>
    <dgm:cxn modelId="{AB262B68-C0E0-40D1-A017-A100E67523C2}" srcId="{439389DB-7D91-4DB9-AFC8-919670882080}" destId="{0DF27CA0-8A55-4AB0-B6E3-FB7B1907CFA3}" srcOrd="0" destOrd="0" parTransId="{65CB36C4-D47F-4E40-9019-DA49094C35A0}" sibTransId="{1D08C5CE-94BF-4AB1-81CA-51E5725A2311}"/>
    <dgm:cxn modelId="{CE0F7054-A118-41F0-A241-279B7D98F31D}" type="presOf" srcId="{0DF27CA0-8A55-4AB0-B6E3-FB7B1907CFA3}" destId="{800B1508-DB65-4359-83E3-0FE2376D48DD}" srcOrd="0" destOrd="0" presId="urn:microsoft.com/office/officeart/2005/8/layout/cycle4"/>
    <dgm:cxn modelId="{6A1C4E7F-887D-4AE0-91AC-A94A9B181121}" type="presOf" srcId="{0DF27CA0-8A55-4AB0-B6E3-FB7B1907CFA3}" destId="{E16672E2-1FEE-461D-A532-64A7FDA41421}" srcOrd="1" destOrd="0" presId="urn:microsoft.com/office/officeart/2005/8/layout/cycle4"/>
    <dgm:cxn modelId="{E5FAE08A-118D-4462-9489-33B2699119E6}" srcId="{52A92D9A-DB6C-459C-BA7A-92F1D2C8A750}" destId="{8CB895D8-C6AD-4D41-AA3E-CF824122EC6A}" srcOrd="0" destOrd="0" parTransId="{87A7FAEA-BCED-4632-AC86-55B036CF114D}" sibTransId="{8F32618F-D865-4A59-ABC2-B40DB097EBFA}"/>
    <dgm:cxn modelId="{7D05488C-1518-4C67-AD66-6103BBF3C278}" type="presOf" srcId="{52A92D9A-DB6C-459C-BA7A-92F1D2C8A750}" destId="{B119CE51-BDE9-421A-B8E3-DD5AE2677BA5}" srcOrd="0" destOrd="0" presId="urn:microsoft.com/office/officeart/2005/8/layout/cycle4"/>
    <dgm:cxn modelId="{08902196-A138-42D7-8A95-C7EE7549C979}" type="presOf" srcId="{B35D7859-61C7-4DB6-BE79-A16FDA0C23CD}" destId="{43D27382-C84A-4812-B739-672CFBC717F7}" srcOrd="1" destOrd="0" presId="urn:microsoft.com/office/officeart/2005/8/layout/cycle4"/>
    <dgm:cxn modelId="{88BCB1AE-3730-4FFD-939F-415DD864D50E}" type="presOf" srcId="{26FEB7ED-B6EA-442E-8EA2-B1607C2EA5FF}" destId="{73C763F8-E791-4AAE-A4C2-EB9466A50214}" srcOrd="0" destOrd="0" presId="urn:microsoft.com/office/officeart/2005/8/layout/cycle4"/>
    <dgm:cxn modelId="{3D3DBEB2-BFEF-4745-8779-8CD721F4AE42}" srcId="{4089E9E5-F84C-4BEB-88F9-258EF3DCF6AA}" destId="{52A92D9A-DB6C-459C-BA7A-92F1D2C8A750}" srcOrd="0" destOrd="0" parTransId="{EE064D23-8FB6-4285-8A7C-E47EF5875916}" sibTransId="{DDD793D0-BFF9-435A-9353-4DA7559F0959}"/>
    <dgm:cxn modelId="{13331CB4-5898-4ADF-8A81-1F41E3148AF6}" type="presOf" srcId="{73C16142-EB6C-42F3-8DBB-C873728EE092}" destId="{7714F051-B852-46A8-B0D2-D25BF78560F7}" srcOrd="0" destOrd="0" presId="urn:microsoft.com/office/officeart/2005/8/layout/cycle4"/>
    <dgm:cxn modelId="{A61044B6-D1DF-4A81-8B3A-988C5CADF597}" type="presOf" srcId="{4089E9E5-F84C-4BEB-88F9-258EF3DCF6AA}" destId="{CCC34921-7B64-4243-B09E-23C4C473122A}" srcOrd="0" destOrd="0" presId="urn:microsoft.com/office/officeart/2005/8/layout/cycle4"/>
    <dgm:cxn modelId="{B131D4E6-4B99-430E-B831-9291FD007E16}" type="presOf" srcId="{8CB895D8-C6AD-4D41-AA3E-CF824122EC6A}" destId="{5267E5CD-B723-46FE-99E8-24DF7E34E7B7}" srcOrd="0" destOrd="0" presId="urn:microsoft.com/office/officeart/2005/8/layout/cycle4"/>
    <dgm:cxn modelId="{86ADBCEB-1167-46D0-88BD-A44B95000624}" srcId="{4089E9E5-F84C-4BEB-88F9-258EF3DCF6AA}" destId="{439389DB-7D91-4DB9-AFC8-919670882080}" srcOrd="3" destOrd="0" parTransId="{6159D539-E5C0-4494-94B9-B809506B996B}" sibTransId="{CBF63CDB-88E7-40C6-84DB-F66E3B073D56}"/>
    <dgm:cxn modelId="{15B978F6-E512-4DF7-A8C8-DFF1BDE808EA}" type="presOf" srcId="{B35D7859-61C7-4DB6-BE79-A16FDA0C23CD}" destId="{BD6871D9-977A-41A1-8674-3655E2FEE9E1}" srcOrd="0" destOrd="0" presId="urn:microsoft.com/office/officeart/2005/8/layout/cycle4"/>
    <dgm:cxn modelId="{EA12F606-E001-4FED-94EB-A59645388234}" type="presParOf" srcId="{CCC34921-7B64-4243-B09E-23C4C473122A}" destId="{D689B4ED-384E-4D9D-86ED-6E41A9391AF5}" srcOrd="0" destOrd="0" presId="urn:microsoft.com/office/officeart/2005/8/layout/cycle4"/>
    <dgm:cxn modelId="{075CE2C7-C3F4-44EA-B973-3F7A576F02C4}" type="presParOf" srcId="{D689B4ED-384E-4D9D-86ED-6E41A9391AF5}" destId="{4E05485D-A1BB-4132-BB62-F13964822CA9}" srcOrd="0" destOrd="0" presId="urn:microsoft.com/office/officeart/2005/8/layout/cycle4"/>
    <dgm:cxn modelId="{5E350BCE-A411-4D5C-B53F-C6CA1E6B04F2}" type="presParOf" srcId="{4E05485D-A1BB-4132-BB62-F13964822CA9}" destId="{5267E5CD-B723-46FE-99E8-24DF7E34E7B7}" srcOrd="0" destOrd="0" presId="urn:microsoft.com/office/officeart/2005/8/layout/cycle4"/>
    <dgm:cxn modelId="{251E6744-7CA4-4CD1-BC47-46285E11141F}" type="presParOf" srcId="{4E05485D-A1BB-4132-BB62-F13964822CA9}" destId="{3C329484-EEA1-4D72-BA1A-5B5DF04C660D}" srcOrd="1" destOrd="0" presId="urn:microsoft.com/office/officeart/2005/8/layout/cycle4"/>
    <dgm:cxn modelId="{E7B32D27-AE27-4CDF-8A56-DBEE6E8BD190}" type="presParOf" srcId="{D689B4ED-384E-4D9D-86ED-6E41A9391AF5}" destId="{C9FC2F06-A219-41C1-9402-58F19181F841}" srcOrd="1" destOrd="0" presId="urn:microsoft.com/office/officeart/2005/8/layout/cycle4"/>
    <dgm:cxn modelId="{E03DA1E1-C284-4F6B-88DF-FFF5B952D8EB}" type="presParOf" srcId="{C9FC2F06-A219-41C1-9402-58F19181F841}" destId="{439FE522-F562-4561-B87D-76935FB2B3A7}" srcOrd="0" destOrd="0" presId="urn:microsoft.com/office/officeart/2005/8/layout/cycle4"/>
    <dgm:cxn modelId="{E9CF7A1D-9B1E-458C-BEAA-CE95A87FE5DA}" type="presParOf" srcId="{C9FC2F06-A219-41C1-9402-58F19181F841}" destId="{398D7F80-14E6-4C49-B10F-CE30032C56F7}" srcOrd="1" destOrd="0" presId="urn:microsoft.com/office/officeart/2005/8/layout/cycle4"/>
    <dgm:cxn modelId="{8506B7E1-27D2-4CEB-BC15-6869F7D5483D}" type="presParOf" srcId="{D689B4ED-384E-4D9D-86ED-6E41A9391AF5}" destId="{98D12DCD-F64C-4DB3-8DCC-481ABFB7D316}" srcOrd="2" destOrd="0" presId="urn:microsoft.com/office/officeart/2005/8/layout/cycle4"/>
    <dgm:cxn modelId="{357FFE3B-516E-4AB7-A827-62A32DE78C64}" type="presParOf" srcId="{98D12DCD-F64C-4DB3-8DCC-481ABFB7D316}" destId="{BD6871D9-977A-41A1-8674-3655E2FEE9E1}" srcOrd="0" destOrd="0" presId="urn:microsoft.com/office/officeart/2005/8/layout/cycle4"/>
    <dgm:cxn modelId="{68C0DD6A-C04A-4A76-A8C7-46077B2C03C7}" type="presParOf" srcId="{98D12DCD-F64C-4DB3-8DCC-481ABFB7D316}" destId="{43D27382-C84A-4812-B739-672CFBC717F7}" srcOrd="1" destOrd="0" presId="urn:microsoft.com/office/officeart/2005/8/layout/cycle4"/>
    <dgm:cxn modelId="{7C1C8FA5-9D49-4276-A302-271879840298}" type="presParOf" srcId="{D689B4ED-384E-4D9D-86ED-6E41A9391AF5}" destId="{947AA6CD-9D6B-4250-B1BE-DABC799E004B}" srcOrd="3" destOrd="0" presId="urn:microsoft.com/office/officeart/2005/8/layout/cycle4"/>
    <dgm:cxn modelId="{6B553023-BBBF-4615-B4E0-294F63AE360C}" type="presParOf" srcId="{947AA6CD-9D6B-4250-B1BE-DABC799E004B}" destId="{800B1508-DB65-4359-83E3-0FE2376D48DD}" srcOrd="0" destOrd="0" presId="urn:microsoft.com/office/officeart/2005/8/layout/cycle4"/>
    <dgm:cxn modelId="{1B818FAA-D056-4FC4-A342-40EEBC6450B2}" type="presParOf" srcId="{947AA6CD-9D6B-4250-B1BE-DABC799E004B}" destId="{E16672E2-1FEE-461D-A532-64A7FDA41421}" srcOrd="1" destOrd="0" presId="urn:microsoft.com/office/officeart/2005/8/layout/cycle4"/>
    <dgm:cxn modelId="{0CF96594-3BB6-4D15-BC21-163274092633}" type="presParOf" srcId="{D689B4ED-384E-4D9D-86ED-6E41A9391AF5}" destId="{C1D41707-6EE3-4A28-B57F-C36888166752}" srcOrd="4" destOrd="0" presId="urn:microsoft.com/office/officeart/2005/8/layout/cycle4"/>
    <dgm:cxn modelId="{888883B1-4290-438B-9109-BDE8C24A3832}" type="presParOf" srcId="{CCC34921-7B64-4243-B09E-23C4C473122A}" destId="{D2F8F398-7784-4FB0-82EA-949E7FF1DED1}" srcOrd="1" destOrd="0" presId="urn:microsoft.com/office/officeart/2005/8/layout/cycle4"/>
    <dgm:cxn modelId="{452E6447-6AE1-4DF9-9D3D-678E86639299}" type="presParOf" srcId="{D2F8F398-7784-4FB0-82EA-949E7FF1DED1}" destId="{B119CE51-BDE9-421A-B8E3-DD5AE2677BA5}" srcOrd="0" destOrd="0" presId="urn:microsoft.com/office/officeart/2005/8/layout/cycle4"/>
    <dgm:cxn modelId="{AF65FE6A-E1DB-4E89-B989-B3AD920FC2DE}" type="presParOf" srcId="{D2F8F398-7784-4FB0-82EA-949E7FF1DED1}" destId="{7714F051-B852-46A8-B0D2-D25BF78560F7}" srcOrd="1" destOrd="0" presId="urn:microsoft.com/office/officeart/2005/8/layout/cycle4"/>
    <dgm:cxn modelId="{8E8DF71E-74B1-4CC7-87D5-A249749B3500}" type="presParOf" srcId="{D2F8F398-7784-4FB0-82EA-949E7FF1DED1}" destId="{73C763F8-E791-4AAE-A4C2-EB9466A50214}" srcOrd="2" destOrd="0" presId="urn:microsoft.com/office/officeart/2005/8/layout/cycle4"/>
    <dgm:cxn modelId="{7BD1EBF7-9221-4B4A-8632-20BE4282AADF}" type="presParOf" srcId="{D2F8F398-7784-4FB0-82EA-949E7FF1DED1}" destId="{CFFA35AB-E295-4CB0-B804-DDCF0034CC8C}" srcOrd="3" destOrd="0" presId="urn:microsoft.com/office/officeart/2005/8/layout/cycle4"/>
    <dgm:cxn modelId="{E77339FE-600D-40C6-AD76-A8D0B762F06F}" type="presParOf" srcId="{D2F8F398-7784-4FB0-82EA-949E7FF1DED1}" destId="{83B24878-53E9-4D2B-8EC4-FDBA5DB26D1D}" srcOrd="4" destOrd="0" presId="urn:microsoft.com/office/officeart/2005/8/layout/cycle4"/>
    <dgm:cxn modelId="{A3BCCDD4-6800-4DB2-BC18-A817373A6194}" type="presParOf" srcId="{CCC34921-7B64-4243-B09E-23C4C473122A}" destId="{0403D827-B95F-43D7-947D-446D5033481D}" srcOrd="2" destOrd="0" presId="urn:microsoft.com/office/officeart/2005/8/layout/cycle4"/>
    <dgm:cxn modelId="{D2B61CC7-13B5-4496-BABB-A39C50857B03}" type="presParOf" srcId="{CCC34921-7B64-4243-B09E-23C4C473122A}" destId="{70ADCBFF-C489-4737-B9D7-93B50E10C0F1}"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6871D9-977A-41A1-8674-3655E2FEE9E1}">
      <dsp:nvSpPr>
        <dsp:cNvPr id="0" name=""/>
        <dsp:cNvSpPr/>
      </dsp:nvSpPr>
      <dsp:spPr>
        <a:xfrm>
          <a:off x="5566353" y="2746247"/>
          <a:ext cx="1995068" cy="1292352"/>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6570271"/>
              <a:satOff val="-35519"/>
              <a:lumOff val="-130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228600" lvl="1" indent="-228600" algn="l" defTabSz="1200150">
            <a:lnSpc>
              <a:spcPct val="90000"/>
            </a:lnSpc>
            <a:spcBef>
              <a:spcPct val="0"/>
            </a:spcBef>
            <a:spcAft>
              <a:spcPct val="15000"/>
            </a:spcAft>
            <a:buChar char="•"/>
          </a:pPr>
          <a:endParaRPr lang="en-US" sz="2700" kern="1200"/>
        </a:p>
      </dsp:txBody>
      <dsp:txXfrm>
        <a:off x="6193262" y="3097724"/>
        <a:ext cx="1339769" cy="912486"/>
      </dsp:txXfrm>
    </dsp:sp>
    <dsp:sp modelId="{800B1508-DB65-4359-83E3-0FE2376D48DD}">
      <dsp:nvSpPr>
        <dsp:cNvPr id="0" name=""/>
        <dsp:cNvSpPr/>
      </dsp:nvSpPr>
      <dsp:spPr>
        <a:xfrm>
          <a:off x="2311241" y="2746247"/>
          <a:ext cx="1995068" cy="1292352"/>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9855406"/>
              <a:satOff val="-53278"/>
              <a:lumOff val="-19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228600" lvl="1" indent="-228600" algn="l" defTabSz="1200150">
            <a:lnSpc>
              <a:spcPct val="90000"/>
            </a:lnSpc>
            <a:spcBef>
              <a:spcPct val="0"/>
            </a:spcBef>
            <a:spcAft>
              <a:spcPct val="15000"/>
            </a:spcAft>
            <a:buChar char="•"/>
          </a:pPr>
          <a:endParaRPr lang="en-US" sz="2700" kern="1200"/>
        </a:p>
      </dsp:txBody>
      <dsp:txXfrm>
        <a:off x="2339630" y="3097724"/>
        <a:ext cx="1339769" cy="912486"/>
      </dsp:txXfrm>
    </dsp:sp>
    <dsp:sp modelId="{439FE522-F562-4561-B87D-76935FB2B3A7}">
      <dsp:nvSpPr>
        <dsp:cNvPr id="0" name=""/>
        <dsp:cNvSpPr/>
      </dsp:nvSpPr>
      <dsp:spPr>
        <a:xfrm>
          <a:off x="5566353" y="0"/>
          <a:ext cx="1995068" cy="1292352"/>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3285135"/>
              <a:satOff val="-17759"/>
              <a:lumOff val="-65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228600" lvl="1" indent="-228600" algn="l" defTabSz="1200150">
            <a:lnSpc>
              <a:spcPct val="90000"/>
            </a:lnSpc>
            <a:spcBef>
              <a:spcPct val="0"/>
            </a:spcBef>
            <a:spcAft>
              <a:spcPct val="15000"/>
            </a:spcAft>
            <a:buChar char="•"/>
          </a:pPr>
          <a:endParaRPr lang="en-US" sz="2700" kern="1200"/>
        </a:p>
      </dsp:txBody>
      <dsp:txXfrm>
        <a:off x="6193262" y="28389"/>
        <a:ext cx="1339769" cy="912486"/>
      </dsp:txXfrm>
    </dsp:sp>
    <dsp:sp modelId="{5267E5CD-B723-46FE-99E8-24DF7E34E7B7}">
      <dsp:nvSpPr>
        <dsp:cNvPr id="0" name=""/>
        <dsp:cNvSpPr/>
      </dsp:nvSpPr>
      <dsp:spPr>
        <a:xfrm>
          <a:off x="2311241" y="0"/>
          <a:ext cx="1995068" cy="1292352"/>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228600" lvl="1" indent="-228600" algn="l" defTabSz="1200150">
            <a:lnSpc>
              <a:spcPct val="90000"/>
            </a:lnSpc>
            <a:spcBef>
              <a:spcPct val="0"/>
            </a:spcBef>
            <a:spcAft>
              <a:spcPct val="15000"/>
            </a:spcAft>
            <a:buChar char="•"/>
          </a:pPr>
          <a:endParaRPr lang="en-US" sz="2700" kern="1200"/>
        </a:p>
      </dsp:txBody>
      <dsp:txXfrm>
        <a:off x="2339630" y="28389"/>
        <a:ext cx="1339769" cy="912486"/>
      </dsp:txXfrm>
    </dsp:sp>
    <dsp:sp modelId="{B119CE51-BDE9-421A-B8E3-DD5AE2677BA5}">
      <dsp:nvSpPr>
        <dsp:cNvPr id="0" name=""/>
        <dsp:cNvSpPr/>
      </dsp:nvSpPr>
      <dsp:spPr>
        <a:xfrm>
          <a:off x="3147231" y="230200"/>
          <a:ext cx="1748713" cy="1748713"/>
        </a:xfrm>
        <a:prstGeom prst="pieWedg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3659417" y="742386"/>
        <a:ext cx="1236527" cy="1236527"/>
      </dsp:txXfrm>
    </dsp:sp>
    <dsp:sp modelId="{7714F051-B852-46A8-B0D2-D25BF78560F7}">
      <dsp:nvSpPr>
        <dsp:cNvPr id="0" name=""/>
        <dsp:cNvSpPr/>
      </dsp:nvSpPr>
      <dsp:spPr>
        <a:xfrm rot="5400000">
          <a:off x="4953004" y="230200"/>
          <a:ext cx="1748713" cy="1748713"/>
        </a:xfrm>
        <a:prstGeom prst="pieWedge">
          <a:avLst/>
        </a:prstGeom>
        <a:solidFill>
          <a:schemeClr val="accent3">
            <a:hueOff val="3285135"/>
            <a:satOff val="-17759"/>
            <a:lumOff val="-654"/>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rot="-5400000">
        <a:off x="4953004" y="742386"/>
        <a:ext cx="1236527" cy="1236527"/>
      </dsp:txXfrm>
    </dsp:sp>
    <dsp:sp modelId="{73C763F8-E791-4AAE-A4C2-EB9466A50214}">
      <dsp:nvSpPr>
        <dsp:cNvPr id="0" name=""/>
        <dsp:cNvSpPr/>
      </dsp:nvSpPr>
      <dsp:spPr>
        <a:xfrm rot="10800000">
          <a:off x="4976717" y="2059686"/>
          <a:ext cx="1748713" cy="1748713"/>
        </a:xfrm>
        <a:prstGeom prst="pieWedge">
          <a:avLst/>
        </a:prstGeom>
        <a:solidFill>
          <a:schemeClr val="accent3">
            <a:hueOff val="6570271"/>
            <a:satOff val="-35519"/>
            <a:lumOff val="-1307"/>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rot="10800000">
        <a:off x="4976717" y="2059686"/>
        <a:ext cx="1236527" cy="1236527"/>
      </dsp:txXfrm>
    </dsp:sp>
    <dsp:sp modelId="{CFFA35AB-E295-4CB0-B804-DDCF0034CC8C}">
      <dsp:nvSpPr>
        <dsp:cNvPr id="0" name=""/>
        <dsp:cNvSpPr/>
      </dsp:nvSpPr>
      <dsp:spPr>
        <a:xfrm rot="16200000">
          <a:off x="3147231" y="2059686"/>
          <a:ext cx="1748713" cy="1748713"/>
        </a:xfrm>
        <a:prstGeom prst="pieWedge">
          <a:avLst/>
        </a:prstGeom>
        <a:solidFill>
          <a:schemeClr val="accent3">
            <a:hueOff val="9855406"/>
            <a:satOff val="-53278"/>
            <a:lumOff val="-196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rot="5400000">
        <a:off x="3659417" y="2059686"/>
        <a:ext cx="1236527" cy="1236527"/>
      </dsp:txXfrm>
    </dsp:sp>
    <dsp:sp modelId="{0403D827-B95F-43D7-947D-446D5033481D}">
      <dsp:nvSpPr>
        <dsp:cNvPr id="0" name=""/>
        <dsp:cNvSpPr/>
      </dsp:nvSpPr>
      <dsp:spPr>
        <a:xfrm>
          <a:off x="4634446" y="1655826"/>
          <a:ext cx="603770" cy="525018"/>
        </a:xfrm>
        <a:prstGeom prst="circularArrow">
          <a:avLst/>
        </a:prstGeom>
        <a:solidFill>
          <a:schemeClr val="accent3">
            <a:tint val="4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0ADCBFF-C489-4737-B9D7-93B50E10C0F1}">
      <dsp:nvSpPr>
        <dsp:cNvPr id="0" name=""/>
        <dsp:cNvSpPr/>
      </dsp:nvSpPr>
      <dsp:spPr>
        <a:xfrm rot="10800000">
          <a:off x="4634446" y="1857756"/>
          <a:ext cx="603770" cy="525018"/>
        </a:xfrm>
        <a:prstGeom prst="circularArrow">
          <a:avLst/>
        </a:prstGeom>
        <a:solidFill>
          <a:schemeClr val="accent3">
            <a:tint val="4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63A1C593-65D0-4073-BCC9-577B9352EA97}" type="datetimeFigureOut">
              <a:rPr lang="en-US" smtClean="0"/>
              <a:t>12/9/2023</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9B618960-8005-486C-9A75-10CB2AAC16F9}"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8365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rtl="1">
              <a:defRPr>
                <a:solidFill>
                  <a:schemeClr val="accent1">
                    <a:lumMod val="50000"/>
                  </a:schemeClr>
                </a:solidFill>
              </a:defRPr>
            </a:lvl1pPr>
          </a:lstStyle>
          <a:p>
            <a:r>
              <a:rPr lang="en-US" dirty="0"/>
              <a:t>Click to edit Master title style</a:t>
            </a:r>
          </a:p>
        </p:txBody>
      </p:sp>
      <p:sp>
        <p:nvSpPr>
          <p:cNvPr id="3" name="Content Placeholder 2"/>
          <p:cNvSpPr>
            <a:spLocks noGrp="1"/>
          </p:cNvSpPr>
          <p:nvPr>
            <p:ph idx="1"/>
          </p:nvPr>
        </p:nvSpPr>
        <p:spPr>
          <a:xfrm>
            <a:off x="1142996" y="2057400"/>
            <a:ext cx="9872871" cy="4038600"/>
          </a:xfrm>
        </p:spPr>
        <p:txBody>
          <a:bodyPr>
            <a:normAutofit/>
          </a:bodyPr>
          <a:lstStyle>
            <a:lvl1pPr algn="r" rtl="1">
              <a:defRPr sz="3200">
                <a:solidFill>
                  <a:schemeClr val="accent1">
                    <a:lumMod val="50000"/>
                  </a:schemeClr>
                </a:solidFill>
                <a:cs typeface="B Mitra" panose="00000400000000000000" pitchFamily="2" charset="-78"/>
              </a:defRPr>
            </a:lvl1pPr>
            <a:lvl2pPr algn="r" rtl="1">
              <a:defRPr sz="3200">
                <a:solidFill>
                  <a:schemeClr val="accent1">
                    <a:lumMod val="50000"/>
                  </a:schemeClr>
                </a:solidFill>
                <a:cs typeface="B Mitra" panose="00000400000000000000" pitchFamily="2" charset="-78"/>
              </a:defRPr>
            </a:lvl2pPr>
            <a:lvl3pPr algn="r" rtl="1">
              <a:defRPr sz="3200">
                <a:solidFill>
                  <a:schemeClr val="accent1">
                    <a:lumMod val="50000"/>
                  </a:schemeClr>
                </a:solidFill>
                <a:cs typeface="B Mitra" panose="00000400000000000000" pitchFamily="2" charset="-78"/>
              </a:defRPr>
            </a:lvl3pPr>
            <a:lvl4pPr algn="r" rtl="1">
              <a:defRPr sz="3200">
                <a:solidFill>
                  <a:schemeClr val="accent1">
                    <a:lumMod val="50000"/>
                  </a:schemeClr>
                </a:solidFill>
                <a:cs typeface="B Mitra" panose="00000400000000000000" pitchFamily="2" charset="-78"/>
              </a:defRPr>
            </a:lvl4pPr>
            <a:lvl5pPr algn="r" rtl="1">
              <a:defRPr sz="3200">
                <a:solidFill>
                  <a:schemeClr val="accent1">
                    <a:lumMod val="50000"/>
                  </a:schemeClr>
                </a:solidFill>
                <a:cs typeface="B Mitra" panose="00000400000000000000" pitchFamily="2" charset="-7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28891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5526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A1C593-65D0-4073-BCC9-577B9352EA97}" type="datetimeFigureOut">
              <a:rPr lang="en-US" smtClean="0"/>
              <a:t>12/9/2023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457088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A1C593-65D0-4073-BCC9-577B9352EA97}" type="datetimeFigureOut">
              <a:rPr lang="en-US" smtClean="0"/>
              <a:t>12/9/2023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761296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A1C593-65D0-4073-BCC9-577B9352EA97}" type="datetimeFigureOut">
              <a:rPr lang="en-US" smtClean="0"/>
              <a:t>12/9/2023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873619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78788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48050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02186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12/9/2023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458747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12/9/2023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843206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63A1C593-65D0-4073-BCC9-577B9352EA97}" type="datetimeFigureOut">
              <a:rPr lang="en-US" smtClean="0"/>
              <a:t>12/9/2023</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8701083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1" eaLnBrk="1" latinLnBrk="0" hangingPunct="1">
        <a:lnSpc>
          <a:spcPct val="90000"/>
        </a:lnSpc>
        <a:spcBef>
          <a:spcPct val="0"/>
        </a:spcBef>
        <a:buNone/>
        <a:defRPr sz="4400" kern="1200">
          <a:solidFill>
            <a:schemeClr val="accent1"/>
          </a:solidFill>
          <a:latin typeface="+mj-lt"/>
          <a:ea typeface="+mj-ea"/>
          <a:cs typeface="B Titr" panose="00000700000000000000" pitchFamily="2" charset="-78"/>
        </a:defRPr>
      </a:lvl1pPr>
    </p:titleStyle>
    <p:bodyStyle>
      <a:lvl1pPr marL="228600" indent="-182880" algn="r" defTabSz="914400" rtl="1"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B Mitra" panose="00000400000000000000" pitchFamily="2" charset="-78"/>
        </a:defRPr>
      </a:lvl1pPr>
      <a:lvl2pPr marL="457200" indent="-182880" algn="r" defTabSz="914400" rtl="1"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B Mitra" panose="00000400000000000000" pitchFamily="2" charset="-78"/>
        </a:defRPr>
      </a:lvl2pPr>
      <a:lvl3pPr marL="731520" indent="-18288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B Mitra" panose="00000400000000000000" pitchFamily="2" charset="-78"/>
        </a:defRPr>
      </a:lvl3pPr>
      <a:lvl4pPr marL="1005840" indent="-18288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B Mitra" panose="00000400000000000000" pitchFamily="2" charset="-78"/>
        </a:defRPr>
      </a:lvl4pPr>
      <a:lvl5pPr marL="1280160" indent="-182880" algn="r" defTabSz="914400" rtl="1"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B Mitra" panose="00000400000000000000" pitchFamily="2" charset="-78"/>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hyperlink" Target="53c2d826d1ead4bb5e3a94fce6647a0517894058-360p.mp4"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Develop Effective</a:t>
            </a:r>
            <a:br>
              <a:rPr lang="en-US" dirty="0"/>
            </a:br>
            <a:r>
              <a:rPr lang="en-US" dirty="0"/>
              <a:t>Study Strategies</a:t>
            </a:r>
          </a:p>
        </p:txBody>
      </p:sp>
      <p:sp>
        <p:nvSpPr>
          <p:cNvPr id="3" name="Subtitle 2"/>
          <p:cNvSpPr>
            <a:spLocks noGrp="1"/>
          </p:cNvSpPr>
          <p:nvPr>
            <p:ph type="subTitle" idx="1"/>
          </p:nvPr>
        </p:nvSpPr>
        <p:spPr/>
        <p:txBody>
          <a:bodyPr/>
          <a:lstStyle/>
          <a:p>
            <a:endParaRPr lang="en-US" dirty="0"/>
          </a:p>
          <a:p>
            <a:r>
              <a:rPr lang="en-US" dirty="0"/>
              <a:t>Dr. Kamali</a:t>
            </a:r>
          </a:p>
          <a:p>
            <a:r>
              <a:rPr lang="en-US" dirty="0"/>
              <a:t>1402</a:t>
            </a: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2520" y="943554"/>
            <a:ext cx="9966960" cy="2926080"/>
          </a:xfrm>
        </p:spPr>
        <p:txBody>
          <a:bodyPr/>
          <a:lstStyle/>
          <a:p>
            <a:r>
              <a:rPr lang="fa-IR" dirty="0">
                <a:cs typeface="B Titr" panose="00000700000000000000" pitchFamily="2" charset="-78"/>
              </a:rPr>
              <a:t>توسعه موثر استراتژی های مطالعه</a:t>
            </a:r>
            <a:endParaRPr lang="en-US" dirty="0">
              <a:cs typeface="B Titr" panose="00000700000000000000" pitchFamily="2" charset="-78"/>
            </a:endParaRPr>
          </a:p>
        </p:txBody>
      </p:sp>
      <p:sp>
        <p:nvSpPr>
          <p:cNvPr id="3" name="Subtitle 2"/>
          <p:cNvSpPr>
            <a:spLocks noGrp="1"/>
          </p:cNvSpPr>
          <p:nvPr>
            <p:ph type="subTitle" idx="1"/>
          </p:nvPr>
        </p:nvSpPr>
        <p:spPr/>
        <p:txBody>
          <a:bodyPr/>
          <a:lstStyle/>
          <a:p>
            <a:endParaRPr lang="en-US" dirty="0"/>
          </a:p>
          <a:p>
            <a:r>
              <a:rPr lang="en-US" dirty="0"/>
              <a:t>Dr. Kamali</a:t>
            </a:r>
          </a:p>
          <a:p>
            <a:r>
              <a:rPr lang="en-US" dirty="0"/>
              <a:t>1402</a:t>
            </a:r>
          </a:p>
        </p:txBody>
      </p:sp>
    </p:spTree>
    <p:extLst>
      <p:ext uri="{BB962C8B-B14F-4D97-AF65-F5344CB8AC3E}">
        <p14:creationId xmlns:p14="http://schemas.microsoft.com/office/powerpoint/2010/main" val="58306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26C91-4FA8-43E8-8FFA-0D5540C0CEE5}"/>
              </a:ext>
            </a:extLst>
          </p:cNvPr>
          <p:cNvSpPr>
            <a:spLocks noGrp="1"/>
          </p:cNvSpPr>
          <p:nvPr>
            <p:ph type="title"/>
          </p:nvPr>
        </p:nvSpPr>
        <p:spPr>
          <a:xfrm>
            <a:off x="1143000" y="13700"/>
            <a:ext cx="9875520" cy="1236453"/>
          </a:xfrm>
        </p:spPr>
        <p:txBody>
          <a:bodyPr/>
          <a:lstStyle/>
          <a:p>
            <a:r>
              <a:rPr lang="fa-IR" dirty="0"/>
              <a:t>عواملی که یادگیریتان را تحت تاثیر قرار میدهد</a:t>
            </a:r>
            <a:endParaRPr lang="en-US" dirty="0"/>
          </a:p>
        </p:txBody>
      </p:sp>
      <p:sp>
        <p:nvSpPr>
          <p:cNvPr id="7" name="Content Placeholder 6">
            <a:extLst>
              <a:ext uri="{FF2B5EF4-FFF2-40B4-BE49-F238E27FC236}">
                <a16:creationId xmlns:a16="http://schemas.microsoft.com/office/drawing/2014/main" id="{2DCDBC59-AEA1-4E9A-951A-FDF68E577279}"/>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5B6E5490-ED0F-464B-A446-8D5FE23A73CE}"/>
              </a:ext>
            </a:extLst>
          </p:cNvPr>
          <p:cNvPicPr>
            <a:picLocks noChangeAspect="1"/>
          </p:cNvPicPr>
          <p:nvPr/>
        </p:nvPicPr>
        <p:blipFill>
          <a:blip r:embed="rId2"/>
          <a:stretch>
            <a:fillRect/>
          </a:stretch>
        </p:blipFill>
        <p:spPr>
          <a:xfrm>
            <a:off x="685800" y="1053686"/>
            <a:ext cx="10820400" cy="5305425"/>
          </a:xfrm>
          <a:prstGeom prst="rect">
            <a:avLst/>
          </a:prstGeom>
        </p:spPr>
      </p:pic>
    </p:spTree>
    <p:extLst>
      <p:ext uri="{BB962C8B-B14F-4D97-AF65-F5344CB8AC3E}">
        <p14:creationId xmlns:p14="http://schemas.microsoft.com/office/powerpoint/2010/main" val="1259794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A84AC-64AA-485D-88D4-811890165AE7}"/>
              </a:ext>
            </a:extLst>
          </p:cNvPr>
          <p:cNvSpPr>
            <a:spLocks noGrp="1"/>
          </p:cNvSpPr>
          <p:nvPr>
            <p:ph type="title"/>
          </p:nvPr>
        </p:nvSpPr>
        <p:spPr>
          <a:xfrm>
            <a:off x="5778772" y="467739"/>
            <a:ext cx="6413228" cy="5486400"/>
          </a:xfrm>
        </p:spPr>
        <p:txBody>
          <a:bodyPr>
            <a:normAutofit/>
          </a:bodyPr>
          <a:lstStyle/>
          <a:p>
            <a:r>
              <a:rPr lang="fa-IR" dirty="0"/>
              <a:t> اگر زمانی را برای فکر کردن به </a:t>
            </a:r>
            <a:r>
              <a:rPr lang="fa-IR" dirty="0">
                <a:solidFill>
                  <a:srgbClr val="FF0000"/>
                </a:solidFill>
              </a:rPr>
              <a:t>نحوه یادگیری موثر خود </a:t>
            </a:r>
            <a:r>
              <a:rPr lang="fa-IR" dirty="0"/>
              <a:t>اختصاص دهید</a:t>
            </a:r>
            <a:br>
              <a:rPr lang="fa-IR" dirty="0"/>
            </a:br>
            <a:r>
              <a:rPr lang="fa-IR" dirty="0"/>
              <a:t>مطالعه می تواند </a:t>
            </a:r>
            <a:r>
              <a:rPr lang="fa-IR" u="sng" dirty="0">
                <a:solidFill>
                  <a:srgbClr val="FF0000"/>
                </a:solidFill>
              </a:rPr>
              <a:t>لذتبخش تر </a:t>
            </a:r>
            <a:r>
              <a:rPr lang="fa-IR" dirty="0"/>
              <a:t>باشد</a:t>
            </a:r>
            <a:br>
              <a:rPr lang="fa-IR" dirty="0"/>
            </a:br>
            <a:br>
              <a:rPr lang="fa-IR" dirty="0"/>
            </a:br>
            <a:r>
              <a:rPr lang="fa-IR" dirty="0"/>
              <a:t>در نتیجه </a:t>
            </a:r>
            <a:br>
              <a:rPr lang="fa-IR" dirty="0"/>
            </a:br>
            <a:r>
              <a:rPr lang="fa-IR" dirty="0"/>
              <a:t>درک مطالب درسی </a:t>
            </a:r>
            <a:r>
              <a:rPr lang="fa-IR" dirty="0">
                <a:solidFill>
                  <a:srgbClr val="FF0000"/>
                </a:solidFill>
              </a:rPr>
              <a:t>آسانتر</a:t>
            </a:r>
            <a:r>
              <a:rPr lang="fa-IR" dirty="0"/>
              <a:t> باشد</a:t>
            </a:r>
            <a:endParaRPr lang="en-US" dirty="0"/>
          </a:p>
        </p:txBody>
      </p:sp>
      <p:pic>
        <p:nvPicPr>
          <p:cNvPr id="8" name="Content Placeholder 26" descr="Girl in classroom wearing backpack watching classmates">
            <a:extLst>
              <a:ext uri="{FF2B5EF4-FFF2-40B4-BE49-F238E27FC236}">
                <a16:creationId xmlns:a16="http://schemas.microsoft.com/office/drawing/2014/main" id="{A0011C8B-ACC4-447A-A9AE-C33767D517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9690" y="903861"/>
            <a:ext cx="5589082" cy="5050278"/>
          </a:xfrm>
          <a:prstGeom prst="rect">
            <a:avLst/>
          </a:prstGeom>
        </p:spPr>
      </p:pic>
    </p:spTree>
    <p:extLst>
      <p:ext uri="{BB962C8B-B14F-4D97-AF65-F5344CB8AC3E}">
        <p14:creationId xmlns:p14="http://schemas.microsoft.com/office/powerpoint/2010/main" val="185837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BF6F5-0DB3-49AC-A158-4AA7E0F64EAD}"/>
              </a:ext>
            </a:extLst>
          </p:cNvPr>
          <p:cNvSpPr>
            <a:spLocks noGrp="1"/>
          </p:cNvSpPr>
          <p:nvPr>
            <p:ph type="title"/>
          </p:nvPr>
        </p:nvSpPr>
        <p:spPr>
          <a:xfrm>
            <a:off x="6614808" y="609598"/>
            <a:ext cx="5217569" cy="5638801"/>
          </a:xfrm>
        </p:spPr>
        <p:txBody>
          <a:bodyPr>
            <a:normAutofit/>
          </a:bodyPr>
          <a:lstStyle/>
          <a:p>
            <a:pPr algn="r"/>
            <a:r>
              <a:rPr lang="fa-IR" dirty="0"/>
              <a:t>راههای افزایش ظرفیت یادگیری شما :</a:t>
            </a:r>
            <a:br>
              <a:rPr lang="fa-IR" dirty="0"/>
            </a:br>
            <a:br>
              <a:rPr lang="fa-IR" dirty="0"/>
            </a:br>
            <a:r>
              <a:rPr lang="fa-IR" dirty="0"/>
              <a:t>1-انگیزه </a:t>
            </a:r>
            <a:br>
              <a:rPr lang="fa-IR" dirty="0"/>
            </a:br>
            <a:r>
              <a:rPr lang="fa-IR" dirty="0"/>
              <a:t>2- داشتن هدف روشن</a:t>
            </a:r>
            <a:br>
              <a:rPr lang="fa-IR" dirty="0"/>
            </a:br>
            <a:r>
              <a:rPr lang="fa-IR" dirty="0"/>
              <a:t> </a:t>
            </a:r>
            <a:br>
              <a:rPr lang="fa-IR" dirty="0"/>
            </a:br>
            <a:endParaRPr lang="en-US" dirty="0"/>
          </a:p>
        </p:txBody>
      </p:sp>
      <p:pic>
        <p:nvPicPr>
          <p:cNvPr id="28" name="Content Placeholder 4" descr="Woman using laptop">
            <a:extLst>
              <a:ext uri="{FF2B5EF4-FFF2-40B4-BE49-F238E27FC236}">
                <a16:creationId xmlns:a16="http://schemas.microsoft.com/office/drawing/2014/main" id="{5A4DDE29-D02A-4C05-AD31-1976D1E363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9623" y="2209800"/>
            <a:ext cx="5719808" cy="4038600"/>
          </a:xfrm>
          <a:prstGeom prst="rect">
            <a:avLst/>
          </a:prstGeom>
        </p:spPr>
      </p:pic>
    </p:spTree>
    <p:extLst>
      <p:ext uri="{BB962C8B-B14F-4D97-AF65-F5344CB8AC3E}">
        <p14:creationId xmlns:p14="http://schemas.microsoft.com/office/powerpoint/2010/main" val="1705129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FD8D2-E33C-48A3-B71A-EDB1D7FC4FF3}"/>
              </a:ext>
            </a:extLst>
          </p:cNvPr>
          <p:cNvSpPr>
            <a:spLocks noGrp="1"/>
          </p:cNvSpPr>
          <p:nvPr>
            <p:ph type="title"/>
          </p:nvPr>
        </p:nvSpPr>
        <p:spPr>
          <a:xfrm>
            <a:off x="1158240" y="609600"/>
            <a:ext cx="9875520" cy="1356360"/>
          </a:xfrm>
        </p:spPr>
        <p:txBody>
          <a:bodyPr>
            <a:normAutofit fontScale="90000"/>
          </a:bodyPr>
          <a:lstStyle/>
          <a:p>
            <a:r>
              <a:rPr lang="fa-IR" dirty="0"/>
              <a:t>پیدا کردن نحوه یادگیریتان می تواند به شما کمک کند تا تکنیکهای مطالعه را متناسب با نیازهایتان توسعه دهید</a:t>
            </a:r>
            <a:endParaRPr lang="en-US" dirty="0"/>
          </a:p>
        </p:txBody>
      </p:sp>
      <p:pic>
        <p:nvPicPr>
          <p:cNvPr id="7" name="Content Placeholder 6" descr="Child writing on paper">
            <a:extLst>
              <a:ext uri="{FF2B5EF4-FFF2-40B4-BE49-F238E27FC236}">
                <a16:creationId xmlns:a16="http://schemas.microsoft.com/office/drawing/2014/main" id="{54643BB7-3A0C-4856-9BD5-98B87A86D72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6029" y="2209800"/>
            <a:ext cx="6057900" cy="4038600"/>
          </a:xfrm>
        </p:spPr>
      </p:pic>
      <p:sp>
        <p:nvSpPr>
          <p:cNvPr id="8" name="Title 1">
            <a:extLst>
              <a:ext uri="{FF2B5EF4-FFF2-40B4-BE49-F238E27FC236}">
                <a16:creationId xmlns:a16="http://schemas.microsoft.com/office/drawing/2014/main" id="{448D8A3E-1C79-4126-8B6B-FB852D423F41}"/>
              </a:ext>
            </a:extLst>
          </p:cNvPr>
          <p:cNvSpPr txBox="1">
            <a:spLocks/>
          </p:cNvSpPr>
          <p:nvPr/>
        </p:nvSpPr>
        <p:spPr>
          <a:xfrm>
            <a:off x="5847300" y="1965960"/>
            <a:ext cx="6095999" cy="4282440"/>
          </a:xfrm>
          <a:prstGeom prst="rect">
            <a:avLst/>
          </a:prstGeom>
        </p:spPr>
        <p:txBody>
          <a:bodyPr vert="horz" lIns="91440" tIns="45720" rIns="91440" bIns="45720" rtlCol="0" anchor="ctr">
            <a:normAutofit fontScale="97500"/>
          </a:bodyPr>
          <a:lstStyle>
            <a:lvl1pPr algn="ctr" defTabSz="914400" rtl="1" eaLnBrk="1" latinLnBrk="0" hangingPunct="1">
              <a:lnSpc>
                <a:spcPct val="90000"/>
              </a:lnSpc>
              <a:spcBef>
                <a:spcPct val="0"/>
              </a:spcBef>
              <a:buNone/>
              <a:defRPr sz="4400" kern="1200">
                <a:solidFill>
                  <a:schemeClr val="accent1"/>
                </a:solidFill>
                <a:latin typeface="+mj-lt"/>
                <a:ea typeface="+mj-ea"/>
                <a:cs typeface="B Titr" panose="00000700000000000000" pitchFamily="2" charset="-78"/>
              </a:defRPr>
            </a:lvl1pPr>
          </a:lstStyle>
          <a:p>
            <a:r>
              <a:rPr lang="fa-IR" dirty="0">
                <a:solidFill>
                  <a:schemeClr val="accent1">
                    <a:lumMod val="50000"/>
                  </a:schemeClr>
                </a:solidFill>
              </a:rPr>
              <a:t>بهبود استراتژیهای مطالعه شما باعث</a:t>
            </a:r>
          </a:p>
          <a:p>
            <a:pPr algn="r"/>
            <a:r>
              <a:rPr lang="fa-IR" dirty="0"/>
              <a:t>1- صرفه جویی در وقتتان </a:t>
            </a:r>
          </a:p>
          <a:p>
            <a:pPr algn="r"/>
            <a:r>
              <a:rPr lang="fa-IR" dirty="0"/>
              <a:t>2- کاهش حجم کاریتان</a:t>
            </a:r>
          </a:p>
          <a:p>
            <a:pPr algn="r"/>
            <a:r>
              <a:rPr lang="fa-IR" dirty="0"/>
              <a:t>3- کمک به بهبود کیفیت کارتان</a:t>
            </a:r>
            <a:endParaRPr lang="en-US" dirty="0"/>
          </a:p>
        </p:txBody>
      </p:sp>
    </p:spTree>
    <p:extLst>
      <p:ext uri="{BB962C8B-B14F-4D97-AF65-F5344CB8AC3E}">
        <p14:creationId xmlns:p14="http://schemas.microsoft.com/office/powerpoint/2010/main" val="1845039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FCF79-7B01-41EE-91BE-FC491E9C0997}"/>
              </a:ext>
            </a:extLst>
          </p:cNvPr>
          <p:cNvSpPr>
            <a:spLocks noGrp="1"/>
          </p:cNvSpPr>
          <p:nvPr>
            <p:ph type="title"/>
          </p:nvPr>
        </p:nvSpPr>
        <p:spPr/>
        <p:txBody>
          <a:bodyPr/>
          <a:lstStyle/>
          <a:p>
            <a:r>
              <a:rPr lang="fa-IR" dirty="0">
                <a:solidFill>
                  <a:srgbClr val="C00000"/>
                </a:solidFill>
              </a:rPr>
              <a:t>دیدگاههای</a:t>
            </a:r>
            <a:r>
              <a:rPr lang="fa-IR" dirty="0"/>
              <a:t> یادگیری</a:t>
            </a:r>
            <a:endParaRPr lang="en-US" dirty="0"/>
          </a:p>
        </p:txBody>
      </p:sp>
      <p:sp>
        <p:nvSpPr>
          <p:cNvPr id="6" name="Title 1">
            <a:extLst>
              <a:ext uri="{FF2B5EF4-FFF2-40B4-BE49-F238E27FC236}">
                <a16:creationId xmlns:a16="http://schemas.microsoft.com/office/drawing/2014/main" id="{6DDDACD7-1DB0-46D7-A656-FA09F65C6924}"/>
              </a:ext>
            </a:extLst>
          </p:cNvPr>
          <p:cNvSpPr txBox="1">
            <a:spLocks/>
          </p:cNvSpPr>
          <p:nvPr/>
        </p:nvSpPr>
        <p:spPr>
          <a:xfrm>
            <a:off x="5521726" y="1653702"/>
            <a:ext cx="6057900" cy="4594698"/>
          </a:xfrm>
          <a:prstGeom prst="rect">
            <a:avLst/>
          </a:prstGeom>
        </p:spPr>
        <p:txBody>
          <a:bodyPr vert="horz" lIns="91440" tIns="45720" rIns="91440" bIns="45720" rtlCol="0" anchor="ctr">
            <a:normAutofit/>
          </a:bodyPr>
          <a:lstStyle>
            <a:lvl1pPr algn="ctr" defTabSz="914400" rtl="1" eaLnBrk="1" latinLnBrk="0" hangingPunct="1">
              <a:lnSpc>
                <a:spcPct val="90000"/>
              </a:lnSpc>
              <a:spcBef>
                <a:spcPct val="0"/>
              </a:spcBef>
              <a:buNone/>
              <a:defRPr sz="4400" kern="1200">
                <a:solidFill>
                  <a:schemeClr val="accent1"/>
                </a:solidFill>
                <a:latin typeface="+mj-lt"/>
                <a:ea typeface="+mj-ea"/>
                <a:cs typeface="B Titr" panose="00000700000000000000" pitchFamily="2" charset="-78"/>
              </a:defRPr>
            </a:lvl1pPr>
          </a:lstStyle>
          <a:p>
            <a:pPr marL="514350" indent="-514350" algn="r">
              <a:buFont typeface="+mj-lt"/>
              <a:buAutoNum type="arabicPeriod"/>
            </a:pPr>
            <a:r>
              <a:rPr lang="fa-IR" sz="2800" dirty="0">
                <a:solidFill>
                  <a:schemeClr val="accent1">
                    <a:lumMod val="50000"/>
                  </a:schemeClr>
                </a:solidFill>
              </a:rPr>
              <a:t>دیدگاه شناختی</a:t>
            </a:r>
          </a:p>
          <a:p>
            <a:pPr marL="514350" indent="-514350" algn="r">
              <a:buFont typeface="+mj-lt"/>
              <a:buAutoNum type="arabicPeriod"/>
            </a:pPr>
            <a:r>
              <a:rPr lang="fa-IR" sz="2800" dirty="0">
                <a:solidFill>
                  <a:schemeClr val="accent1">
                    <a:lumMod val="50000"/>
                  </a:schemeClr>
                </a:solidFill>
              </a:rPr>
              <a:t>انگیزه</a:t>
            </a:r>
          </a:p>
          <a:p>
            <a:pPr marL="514350" indent="-514350" algn="r">
              <a:buFont typeface="+mj-lt"/>
              <a:buAutoNum type="arabicPeriod"/>
            </a:pPr>
            <a:r>
              <a:rPr lang="fa-IR" sz="2800" dirty="0">
                <a:solidFill>
                  <a:schemeClr val="accent1">
                    <a:lumMod val="50000"/>
                  </a:schemeClr>
                </a:solidFill>
              </a:rPr>
              <a:t>خودتنظیمی مهارتهای مطالعه</a:t>
            </a:r>
          </a:p>
          <a:p>
            <a:pPr marL="514350" indent="-514350" algn="r">
              <a:buFont typeface="+mj-lt"/>
              <a:buAutoNum type="arabicPeriod"/>
            </a:pPr>
            <a:r>
              <a:rPr lang="fa-IR" sz="2800" dirty="0">
                <a:solidFill>
                  <a:schemeClr val="accent1">
                    <a:lumMod val="50000"/>
                  </a:schemeClr>
                </a:solidFill>
              </a:rPr>
              <a:t>یادگیری کافی؟</a:t>
            </a:r>
          </a:p>
          <a:p>
            <a:pPr marL="514350" indent="-514350" algn="r">
              <a:buFont typeface="+mj-lt"/>
              <a:buAutoNum type="arabicPeriod"/>
            </a:pPr>
            <a:r>
              <a:rPr lang="fa-IR" sz="2800" dirty="0">
                <a:solidFill>
                  <a:schemeClr val="accent1">
                    <a:lumMod val="50000"/>
                  </a:schemeClr>
                </a:solidFill>
              </a:rPr>
              <a:t>مفهوم یادگیری</a:t>
            </a:r>
          </a:p>
          <a:p>
            <a:pPr marL="514350" indent="-514350" algn="r">
              <a:buFont typeface="+mj-lt"/>
              <a:buAutoNum type="arabicPeriod"/>
            </a:pPr>
            <a:r>
              <a:rPr lang="fa-IR" sz="2800" dirty="0">
                <a:solidFill>
                  <a:schemeClr val="accent1">
                    <a:lumMod val="50000"/>
                  </a:schemeClr>
                </a:solidFill>
              </a:rPr>
              <a:t>یادگیری در گروهها</a:t>
            </a:r>
          </a:p>
          <a:p>
            <a:pPr marL="514350" indent="-514350" algn="r">
              <a:buFont typeface="+mj-lt"/>
              <a:buAutoNum type="arabicPeriod"/>
            </a:pPr>
            <a:r>
              <a:rPr lang="fa-IR" sz="2800" dirty="0">
                <a:solidFill>
                  <a:schemeClr val="accent1">
                    <a:lumMod val="50000"/>
                  </a:schemeClr>
                </a:solidFill>
              </a:rPr>
              <a:t>خلق و یادگیری</a:t>
            </a:r>
          </a:p>
          <a:p>
            <a:pPr marL="514350" indent="-514350" algn="r">
              <a:buFont typeface="+mj-lt"/>
              <a:buAutoNum type="arabicPeriod"/>
            </a:pPr>
            <a:r>
              <a:rPr lang="fa-IR" sz="2800" dirty="0">
                <a:solidFill>
                  <a:schemeClr val="accent1">
                    <a:lumMod val="50000"/>
                  </a:schemeClr>
                </a:solidFill>
              </a:rPr>
              <a:t>تفاوتها در به کارگیری حواس (</a:t>
            </a:r>
            <a:r>
              <a:rPr lang="en-US" sz="2800" dirty="0">
                <a:solidFill>
                  <a:schemeClr val="accent1">
                    <a:lumMod val="50000"/>
                  </a:schemeClr>
                </a:solidFill>
              </a:rPr>
              <a:t>VARK</a:t>
            </a:r>
            <a:r>
              <a:rPr lang="fa-IR" sz="2800" dirty="0">
                <a:solidFill>
                  <a:schemeClr val="accent1">
                    <a:lumMod val="50000"/>
                  </a:schemeClr>
                </a:solidFill>
              </a:rPr>
              <a:t>)</a:t>
            </a:r>
          </a:p>
        </p:txBody>
      </p:sp>
      <p:pic>
        <p:nvPicPr>
          <p:cNvPr id="7" name="Content Placeholder 4" descr="Child writing on a notebook">
            <a:extLst>
              <a:ext uri="{FF2B5EF4-FFF2-40B4-BE49-F238E27FC236}">
                <a16:creationId xmlns:a16="http://schemas.microsoft.com/office/drawing/2014/main" id="{4FDBDC49-B434-4EF1-BBB1-CD4D1531BE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 y="1965960"/>
            <a:ext cx="5483626" cy="4038600"/>
          </a:xfrm>
          <a:prstGeom prst="rect">
            <a:avLst/>
          </a:prstGeom>
        </p:spPr>
      </p:pic>
    </p:spTree>
    <p:extLst>
      <p:ext uri="{BB962C8B-B14F-4D97-AF65-F5344CB8AC3E}">
        <p14:creationId xmlns:p14="http://schemas.microsoft.com/office/powerpoint/2010/main" val="1966793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B28F-F926-4F25-BC27-67F5B963DCD2}"/>
              </a:ext>
            </a:extLst>
          </p:cNvPr>
          <p:cNvSpPr>
            <a:spLocks noGrp="1"/>
          </p:cNvSpPr>
          <p:nvPr>
            <p:ph type="title"/>
          </p:nvPr>
        </p:nvSpPr>
        <p:spPr/>
        <p:txBody>
          <a:bodyPr/>
          <a:lstStyle/>
          <a:p>
            <a:r>
              <a:rPr lang="fa-IR" dirty="0"/>
              <a:t>یادگیری از دیدگاه شناختی</a:t>
            </a:r>
            <a:endParaRPr lang="en-US" dirty="0"/>
          </a:p>
        </p:txBody>
      </p:sp>
      <p:sp>
        <p:nvSpPr>
          <p:cNvPr id="7" name="Content Placeholder 6">
            <a:extLst>
              <a:ext uri="{FF2B5EF4-FFF2-40B4-BE49-F238E27FC236}">
                <a16:creationId xmlns:a16="http://schemas.microsoft.com/office/drawing/2014/main" id="{4324BC1E-49F1-4CFA-84BE-8CEA80013756}"/>
              </a:ext>
            </a:extLst>
          </p:cNvPr>
          <p:cNvSpPr>
            <a:spLocks noGrp="1"/>
          </p:cNvSpPr>
          <p:nvPr>
            <p:ph idx="1"/>
          </p:nvPr>
        </p:nvSpPr>
        <p:spPr>
          <a:xfrm>
            <a:off x="6673174" y="1634247"/>
            <a:ext cx="5033258" cy="4614153"/>
          </a:xfrm>
        </p:spPr>
        <p:txBody>
          <a:bodyPr>
            <a:normAutofit fontScale="92500" lnSpcReduction="20000"/>
          </a:bodyPr>
          <a:lstStyle/>
          <a:p>
            <a:r>
              <a:rPr lang="fa-IR" sz="4000" dirty="0"/>
              <a:t>چگونه مطالب جدید را </a:t>
            </a:r>
            <a:r>
              <a:rPr lang="fa-IR" sz="4000" b="1" dirty="0">
                <a:solidFill>
                  <a:srgbClr val="C00000"/>
                </a:solidFill>
              </a:rPr>
              <a:t>یاد میگیریم</a:t>
            </a:r>
            <a:r>
              <a:rPr lang="fa-IR" sz="4000" dirty="0"/>
              <a:t>؟</a:t>
            </a:r>
          </a:p>
          <a:p>
            <a:r>
              <a:rPr lang="fa-IR" sz="4000" dirty="0"/>
              <a:t>چگونه مطالب را </a:t>
            </a:r>
            <a:r>
              <a:rPr lang="fa-IR" sz="4000" b="1" dirty="0">
                <a:solidFill>
                  <a:srgbClr val="C00000"/>
                </a:solidFill>
              </a:rPr>
              <a:t>سریعتر</a:t>
            </a:r>
            <a:r>
              <a:rPr lang="fa-IR" sz="4000" dirty="0"/>
              <a:t> میآموزیم؟</a:t>
            </a:r>
          </a:p>
          <a:p>
            <a:r>
              <a:rPr lang="fa-IR" sz="4000" dirty="0"/>
              <a:t>چگونه متوجه میشویم که مطلبی را به </a:t>
            </a:r>
            <a:r>
              <a:rPr lang="fa-IR" sz="4000" b="1" dirty="0">
                <a:solidFill>
                  <a:srgbClr val="C00000"/>
                </a:solidFill>
              </a:rPr>
              <a:t>درستی</a:t>
            </a:r>
            <a:r>
              <a:rPr lang="fa-IR" sz="4000" b="1" dirty="0"/>
              <a:t> </a:t>
            </a:r>
            <a:r>
              <a:rPr lang="fa-IR" sz="4000" b="1" dirty="0">
                <a:solidFill>
                  <a:srgbClr val="C00000"/>
                </a:solidFill>
              </a:rPr>
              <a:t>درک</a:t>
            </a:r>
            <a:r>
              <a:rPr lang="fa-IR" sz="4000" b="1" dirty="0"/>
              <a:t> </a:t>
            </a:r>
            <a:r>
              <a:rPr lang="fa-IR" sz="4000" dirty="0"/>
              <a:t>کرده ایم؟</a:t>
            </a:r>
          </a:p>
          <a:p>
            <a:r>
              <a:rPr lang="fa-IR" sz="4000" dirty="0"/>
              <a:t>چگونه آموخته هایمان را برای </a:t>
            </a:r>
            <a:r>
              <a:rPr lang="fa-IR" sz="4000" b="1" dirty="0">
                <a:solidFill>
                  <a:srgbClr val="C00000"/>
                </a:solidFill>
              </a:rPr>
              <a:t>مدت بیشتری در حافظه </a:t>
            </a:r>
            <a:r>
              <a:rPr lang="fa-IR" sz="4000" dirty="0"/>
              <a:t>نگه میداریم؟</a:t>
            </a:r>
          </a:p>
          <a:p>
            <a:endParaRPr lang="en-US" sz="4000" dirty="0"/>
          </a:p>
        </p:txBody>
      </p:sp>
      <p:pic>
        <p:nvPicPr>
          <p:cNvPr id="8" name="Content Placeholder 4" descr="Working with tablet computers in a classroom">
            <a:extLst>
              <a:ext uri="{FF2B5EF4-FFF2-40B4-BE49-F238E27FC236}">
                <a16:creationId xmlns:a16="http://schemas.microsoft.com/office/drawing/2014/main" id="{CF2A16E4-DCB3-465B-A21C-12BE720D4C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5568" y="1965960"/>
            <a:ext cx="6051322" cy="4038600"/>
          </a:xfrm>
          <a:prstGeom prst="rect">
            <a:avLst/>
          </a:prstGeom>
        </p:spPr>
      </p:pic>
    </p:spTree>
    <p:extLst>
      <p:ext uri="{BB962C8B-B14F-4D97-AF65-F5344CB8AC3E}">
        <p14:creationId xmlns:p14="http://schemas.microsoft.com/office/powerpoint/2010/main" val="592125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E7D30-4759-4C1D-976A-DC62B078914D}"/>
              </a:ext>
            </a:extLst>
          </p:cNvPr>
          <p:cNvSpPr>
            <a:spLocks noGrp="1"/>
          </p:cNvSpPr>
          <p:nvPr>
            <p:ph type="title"/>
          </p:nvPr>
        </p:nvSpPr>
        <p:spPr>
          <a:xfrm>
            <a:off x="486383" y="609600"/>
            <a:ext cx="10532137" cy="1356360"/>
          </a:xfrm>
        </p:spPr>
        <p:txBody>
          <a:bodyPr/>
          <a:lstStyle/>
          <a:p>
            <a:r>
              <a:rPr lang="fa-IR" dirty="0">
                <a:solidFill>
                  <a:schemeClr val="accent1">
                    <a:lumMod val="50000"/>
                  </a:schemeClr>
                </a:solidFill>
              </a:rPr>
              <a:t>در باره  یک مطلبی که خوب فراگرفته اید فکر کنید</a:t>
            </a:r>
            <a:endParaRPr lang="en-US" dirty="0">
              <a:solidFill>
                <a:schemeClr val="accent1">
                  <a:lumMod val="50000"/>
                </a:schemeClr>
              </a:solidFill>
            </a:endParaRPr>
          </a:p>
        </p:txBody>
      </p:sp>
      <p:sp>
        <p:nvSpPr>
          <p:cNvPr id="3" name="Text Placeholder 2">
            <a:extLst>
              <a:ext uri="{FF2B5EF4-FFF2-40B4-BE49-F238E27FC236}">
                <a16:creationId xmlns:a16="http://schemas.microsoft.com/office/drawing/2014/main" id="{2E57F0AA-6E8E-4ED0-B18D-B2565AE99C45}"/>
              </a:ext>
            </a:extLst>
          </p:cNvPr>
          <p:cNvSpPr>
            <a:spLocks noGrp="1"/>
          </p:cNvSpPr>
          <p:nvPr>
            <p:ph type="body" idx="1"/>
          </p:nvPr>
        </p:nvSpPr>
        <p:spPr/>
        <p:txBody>
          <a:bodyPr/>
          <a:lstStyle/>
          <a:p>
            <a:r>
              <a:rPr lang="fa-IR" dirty="0">
                <a:solidFill>
                  <a:srgbClr val="FF0000"/>
                </a:solidFill>
              </a:rPr>
              <a:t>ستون سمت چپ</a:t>
            </a:r>
            <a:endParaRPr lang="en-US" dirty="0">
              <a:solidFill>
                <a:srgbClr val="FF0000"/>
              </a:solidFill>
            </a:endParaRPr>
          </a:p>
        </p:txBody>
      </p:sp>
      <p:sp>
        <p:nvSpPr>
          <p:cNvPr id="4" name="Content Placeholder 3">
            <a:extLst>
              <a:ext uri="{FF2B5EF4-FFF2-40B4-BE49-F238E27FC236}">
                <a16:creationId xmlns:a16="http://schemas.microsoft.com/office/drawing/2014/main" id="{2FA5B909-188C-45B5-B515-01B20DCA4694}"/>
              </a:ext>
            </a:extLst>
          </p:cNvPr>
          <p:cNvSpPr>
            <a:spLocks noGrp="1"/>
          </p:cNvSpPr>
          <p:nvPr>
            <p:ph sz="half" idx="2"/>
          </p:nvPr>
        </p:nvSpPr>
        <p:spPr/>
        <p:txBody>
          <a:bodyPr>
            <a:normAutofit lnSpcReduction="10000"/>
          </a:bodyPr>
          <a:lstStyle/>
          <a:p>
            <a:r>
              <a:rPr lang="fa-IR" sz="4000" dirty="0">
                <a:solidFill>
                  <a:schemeClr val="accent1">
                    <a:lumMod val="50000"/>
                  </a:schemeClr>
                </a:solidFill>
              </a:rPr>
              <a:t>ترجیح داده ام مطالب را حفظ کنم اینطوری .............. مطالب بیشتری را می توانم مطالعه کنم، تا اینکه زمانی را صرف کنم برای اینکه آنها را درک کنم. </a:t>
            </a:r>
            <a:endParaRPr lang="en-US" sz="4000" dirty="0">
              <a:solidFill>
                <a:schemeClr val="accent1">
                  <a:lumMod val="50000"/>
                </a:schemeClr>
              </a:solidFill>
            </a:endParaRPr>
          </a:p>
        </p:txBody>
      </p:sp>
      <p:sp>
        <p:nvSpPr>
          <p:cNvPr id="5" name="Text Placeholder 4">
            <a:extLst>
              <a:ext uri="{FF2B5EF4-FFF2-40B4-BE49-F238E27FC236}">
                <a16:creationId xmlns:a16="http://schemas.microsoft.com/office/drawing/2014/main" id="{F8CA6661-A396-4FC6-9B96-358847FE46B4}"/>
              </a:ext>
            </a:extLst>
          </p:cNvPr>
          <p:cNvSpPr>
            <a:spLocks noGrp="1"/>
          </p:cNvSpPr>
          <p:nvPr>
            <p:ph type="body" sz="quarter" idx="3"/>
          </p:nvPr>
        </p:nvSpPr>
        <p:spPr/>
        <p:txBody>
          <a:bodyPr/>
          <a:lstStyle/>
          <a:p>
            <a:r>
              <a:rPr lang="fa-IR" dirty="0">
                <a:solidFill>
                  <a:srgbClr val="FF0000"/>
                </a:solidFill>
              </a:rPr>
              <a:t>ستون سمت راست </a:t>
            </a:r>
            <a:endParaRPr lang="en-US" dirty="0">
              <a:solidFill>
                <a:srgbClr val="FF0000"/>
              </a:solidFill>
            </a:endParaRPr>
          </a:p>
        </p:txBody>
      </p:sp>
      <p:sp>
        <p:nvSpPr>
          <p:cNvPr id="6" name="Content Placeholder 5">
            <a:extLst>
              <a:ext uri="{FF2B5EF4-FFF2-40B4-BE49-F238E27FC236}">
                <a16:creationId xmlns:a16="http://schemas.microsoft.com/office/drawing/2014/main" id="{F2983A0F-0E28-4AD5-8034-A418A0805238}"/>
              </a:ext>
            </a:extLst>
          </p:cNvPr>
          <p:cNvSpPr>
            <a:spLocks noGrp="1"/>
          </p:cNvSpPr>
          <p:nvPr>
            <p:ph sz="quarter" idx="4"/>
          </p:nvPr>
        </p:nvSpPr>
        <p:spPr/>
        <p:txBody>
          <a:bodyPr>
            <a:normAutofit lnSpcReduction="10000"/>
          </a:bodyPr>
          <a:lstStyle/>
          <a:p>
            <a:r>
              <a:rPr lang="fa-IR" sz="4000" dirty="0">
                <a:solidFill>
                  <a:schemeClr val="accent1">
                    <a:lumMod val="50000"/>
                  </a:schemeClr>
                </a:solidFill>
              </a:rPr>
              <a:t>ترجیح داده ام مطالب را درک کنم و دانش جدید را با دانش قبلی خود ربط دهم  فکر می کنم یادگیری من ............ خواهد بود</a:t>
            </a:r>
            <a:endParaRPr lang="en-US" sz="4000" dirty="0">
              <a:solidFill>
                <a:schemeClr val="accent1">
                  <a:lumMod val="50000"/>
                </a:schemeClr>
              </a:solidFill>
            </a:endParaRPr>
          </a:p>
        </p:txBody>
      </p:sp>
    </p:spTree>
    <p:extLst>
      <p:ext uri="{BB962C8B-B14F-4D97-AF65-F5344CB8AC3E}">
        <p14:creationId xmlns:p14="http://schemas.microsoft.com/office/powerpoint/2010/main" val="2720943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CD2E-2A05-4075-9C06-955D6BCB022B}"/>
              </a:ext>
            </a:extLst>
          </p:cNvPr>
          <p:cNvSpPr>
            <a:spLocks noGrp="1"/>
          </p:cNvSpPr>
          <p:nvPr>
            <p:ph type="title"/>
          </p:nvPr>
        </p:nvSpPr>
        <p:spPr/>
        <p:txBody>
          <a:bodyPr/>
          <a:lstStyle/>
          <a:p>
            <a:r>
              <a:rPr lang="fa-IR" dirty="0"/>
              <a:t>نتیجه در کلاس شما</a:t>
            </a:r>
            <a:endParaRPr lang="en-US" dirty="0"/>
          </a:p>
        </p:txBody>
      </p:sp>
      <p:sp>
        <p:nvSpPr>
          <p:cNvPr id="3" name="Text Placeholder 2">
            <a:extLst>
              <a:ext uri="{FF2B5EF4-FFF2-40B4-BE49-F238E27FC236}">
                <a16:creationId xmlns:a16="http://schemas.microsoft.com/office/drawing/2014/main" id="{994A47C0-153E-48EF-ADD2-3558F461743B}"/>
              </a:ext>
            </a:extLst>
          </p:cNvPr>
          <p:cNvSpPr>
            <a:spLocks noGrp="1"/>
          </p:cNvSpPr>
          <p:nvPr>
            <p:ph type="body" idx="1"/>
          </p:nvPr>
        </p:nvSpPr>
        <p:spPr/>
        <p:txBody>
          <a:bodyPr/>
          <a:lstStyle/>
          <a:p>
            <a:r>
              <a:rPr lang="fa-IR" dirty="0">
                <a:solidFill>
                  <a:srgbClr val="FF0000"/>
                </a:solidFill>
              </a:rPr>
              <a:t>تعداد نفرات سمت چپ</a:t>
            </a:r>
            <a:endParaRPr lang="en-US" dirty="0">
              <a:solidFill>
                <a:srgbClr val="FF0000"/>
              </a:solidFill>
            </a:endParaRPr>
          </a:p>
        </p:txBody>
      </p:sp>
      <p:sp>
        <p:nvSpPr>
          <p:cNvPr id="4" name="Content Placeholder 3">
            <a:extLst>
              <a:ext uri="{FF2B5EF4-FFF2-40B4-BE49-F238E27FC236}">
                <a16:creationId xmlns:a16="http://schemas.microsoft.com/office/drawing/2014/main" id="{0D387CEF-37C6-4996-B9CD-A59C7EDCB867}"/>
              </a:ext>
            </a:extLst>
          </p:cNvPr>
          <p:cNvSpPr>
            <a:spLocks noGrp="1"/>
          </p:cNvSpPr>
          <p:nvPr>
            <p:ph sz="half" idx="2"/>
          </p:nvPr>
        </p:nvSpPr>
        <p:spPr/>
        <p:txBody>
          <a:bodyPr>
            <a:normAutofit/>
          </a:bodyPr>
          <a:lstStyle/>
          <a:p>
            <a:endParaRPr lang="en-US" sz="4400" dirty="0">
              <a:latin typeface="+mj-lt"/>
              <a:ea typeface="+mj-ea"/>
              <a:cs typeface="B Titr" panose="00000700000000000000" pitchFamily="2" charset="-78"/>
            </a:endParaRPr>
          </a:p>
        </p:txBody>
      </p:sp>
      <p:sp>
        <p:nvSpPr>
          <p:cNvPr id="5" name="Text Placeholder 4">
            <a:extLst>
              <a:ext uri="{FF2B5EF4-FFF2-40B4-BE49-F238E27FC236}">
                <a16:creationId xmlns:a16="http://schemas.microsoft.com/office/drawing/2014/main" id="{2A2C8394-AC9F-4DEF-9DDA-6C127AF590D2}"/>
              </a:ext>
            </a:extLst>
          </p:cNvPr>
          <p:cNvSpPr>
            <a:spLocks noGrp="1"/>
          </p:cNvSpPr>
          <p:nvPr>
            <p:ph type="body" sz="quarter" idx="3"/>
          </p:nvPr>
        </p:nvSpPr>
        <p:spPr/>
        <p:txBody>
          <a:bodyPr/>
          <a:lstStyle/>
          <a:p>
            <a:r>
              <a:rPr lang="fa-IR" dirty="0">
                <a:solidFill>
                  <a:srgbClr val="FF0000"/>
                </a:solidFill>
              </a:rPr>
              <a:t>تعداد نفرات سمت راست</a:t>
            </a:r>
            <a:endParaRPr lang="en-US" dirty="0">
              <a:solidFill>
                <a:srgbClr val="FF0000"/>
              </a:solidFill>
            </a:endParaRPr>
          </a:p>
        </p:txBody>
      </p:sp>
      <p:sp>
        <p:nvSpPr>
          <p:cNvPr id="6" name="Content Placeholder 5">
            <a:extLst>
              <a:ext uri="{FF2B5EF4-FFF2-40B4-BE49-F238E27FC236}">
                <a16:creationId xmlns:a16="http://schemas.microsoft.com/office/drawing/2014/main" id="{0D04FAC5-5B36-4039-B7D2-22C853188ECD}"/>
              </a:ext>
            </a:extLst>
          </p:cNvPr>
          <p:cNvSpPr>
            <a:spLocks noGrp="1"/>
          </p:cNvSpPr>
          <p:nvPr>
            <p:ph sz="quarter" idx="4"/>
          </p:nvPr>
        </p:nvSpPr>
        <p:spPr/>
        <p:txBody>
          <a:bodyPr>
            <a:normAutofit/>
          </a:bodyPr>
          <a:lstStyle/>
          <a:p>
            <a:endParaRPr lang="en-US" sz="4400" dirty="0">
              <a:latin typeface="+mj-lt"/>
              <a:ea typeface="+mj-ea"/>
              <a:cs typeface="B Titr" panose="00000700000000000000" pitchFamily="2" charset="-78"/>
            </a:endParaRPr>
          </a:p>
        </p:txBody>
      </p:sp>
    </p:spTree>
    <p:extLst>
      <p:ext uri="{BB962C8B-B14F-4D97-AF65-F5344CB8AC3E}">
        <p14:creationId xmlns:p14="http://schemas.microsoft.com/office/powerpoint/2010/main" val="1000243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57074-D9E9-4C95-AABF-E1829ACFC308}"/>
              </a:ext>
            </a:extLst>
          </p:cNvPr>
          <p:cNvSpPr>
            <a:spLocks noGrp="1"/>
          </p:cNvSpPr>
          <p:nvPr>
            <p:ph type="title"/>
          </p:nvPr>
        </p:nvSpPr>
        <p:spPr/>
        <p:txBody>
          <a:bodyPr/>
          <a:lstStyle/>
          <a:p>
            <a:r>
              <a:rPr lang="fa-IR" dirty="0"/>
              <a:t>انگیزه </a:t>
            </a:r>
            <a:endParaRPr lang="en-US" dirty="0"/>
          </a:p>
        </p:txBody>
      </p:sp>
      <p:sp>
        <p:nvSpPr>
          <p:cNvPr id="7" name="Content Placeholder 6">
            <a:extLst>
              <a:ext uri="{FF2B5EF4-FFF2-40B4-BE49-F238E27FC236}">
                <a16:creationId xmlns:a16="http://schemas.microsoft.com/office/drawing/2014/main" id="{829F6F9D-2143-4885-A3A5-96A8C32A25BC}"/>
              </a:ext>
            </a:extLst>
          </p:cNvPr>
          <p:cNvSpPr>
            <a:spLocks noGrp="1"/>
          </p:cNvSpPr>
          <p:nvPr>
            <p:ph idx="1"/>
          </p:nvPr>
        </p:nvSpPr>
        <p:spPr>
          <a:xfrm>
            <a:off x="5667296" y="2057400"/>
            <a:ext cx="5348572" cy="4038600"/>
          </a:xfrm>
        </p:spPr>
        <p:txBody>
          <a:bodyPr>
            <a:normAutofit/>
          </a:bodyPr>
          <a:lstStyle/>
          <a:p>
            <a:r>
              <a:rPr lang="fa-IR" sz="4000" dirty="0"/>
              <a:t>آنچه شما را برای یادگیری بیشتر تحریک می کند</a:t>
            </a:r>
          </a:p>
          <a:p>
            <a:endParaRPr lang="fa-IR" sz="4000" dirty="0"/>
          </a:p>
        </p:txBody>
      </p:sp>
      <p:pic>
        <p:nvPicPr>
          <p:cNvPr id="8" name="Content Placeholder 4" descr="Doctors monitoring patient condition on monitors">
            <a:extLst>
              <a:ext uri="{FF2B5EF4-FFF2-40B4-BE49-F238E27FC236}">
                <a16:creationId xmlns:a16="http://schemas.microsoft.com/office/drawing/2014/main" id="{3FCE4AA2-0C0F-4ED8-8B7B-F75893F348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4264" y="2209800"/>
            <a:ext cx="5348572" cy="4038600"/>
          </a:xfrm>
          <a:prstGeom prst="rect">
            <a:avLst/>
          </a:prstGeom>
        </p:spPr>
      </p:pic>
    </p:spTree>
    <p:extLst>
      <p:ext uri="{BB962C8B-B14F-4D97-AF65-F5344CB8AC3E}">
        <p14:creationId xmlns:p14="http://schemas.microsoft.com/office/powerpoint/2010/main" val="288193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837D5-194C-4448-B231-CA52CCA17FA7}"/>
              </a:ext>
            </a:extLst>
          </p:cNvPr>
          <p:cNvSpPr>
            <a:spLocks noGrp="1"/>
          </p:cNvSpPr>
          <p:nvPr>
            <p:ph type="title"/>
          </p:nvPr>
        </p:nvSpPr>
        <p:spPr>
          <a:xfrm>
            <a:off x="3020599" y="444295"/>
            <a:ext cx="5959012" cy="1356360"/>
          </a:xfrm>
        </p:spPr>
        <p:txBody>
          <a:bodyPr>
            <a:normAutofit fontScale="90000"/>
          </a:bodyPr>
          <a:lstStyle/>
          <a:p>
            <a:r>
              <a:rPr lang="fa-IR" dirty="0"/>
              <a:t> چه چیزی شما را برای یادگیری بیشتر تحریک می کند؟</a:t>
            </a:r>
            <a:endParaRPr lang="en-US" dirty="0">
              <a:highlight>
                <a:srgbClr val="FFFF00"/>
              </a:highlight>
            </a:endParaRPr>
          </a:p>
        </p:txBody>
      </p:sp>
      <p:sp>
        <p:nvSpPr>
          <p:cNvPr id="3" name="Content Placeholder 2">
            <a:extLst>
              <a:ext uri="{FF2B5EF4-FFF2-40B4-BE49-F238E27FC236}">
                <a16:creationId xmlns:a16="http://schemas.microsoft.com/office/drawing/2014/main" id="{50F72F7A-6FEF-4C43-9073-FA83731646D5}"/>
              </a:ext>
            </a:extLst>
          </p:cNvPr>
          <p:cNvSpPr>
            <a:spLocks noGrp="1"/>
          </p:cNvSpPr>
          <p:nvPr>
            <p:ph idx="1"/>
          </p:nvPr>
        </p:nvSpPr>
        <p:spPr>
          <a:xfrm>
            <a:off x="1142996" y="2057399"/>
            <a:ext cx="9872871" cy="4405045"/>
          </a:xfrm>
        </p:spPr>
        <p:txBody>
          <a:bodyPr>
            <a:normAutofit fontScale="47500" lnSpcReduction="20000"/>
          </a:bodyPr>
          <a:lstStyle/>
          <a:p>
            <a:pPr marL="45720" indent="0">
              <a:buNone/>
            </a:pPr>
            <a:r>
              <a:rPr lang="fa-IR" sz="4000" dirty="0">
                <a:solidFill>
                  <a:srgbClr val="C00000"/>
                </a:solidFill>
              </a:rPr>
              <a:t>1-علاقه به یادگیری؟</a:t>
            </a:r>
            <a:endParaRPr lang="en-US" sz="4000" dirty="0">
              <a:solidFill>
                <a:srgbClr val="C00000"/>
              </a:solidFill>
            </a:endParaRPr>
          </a:p>
          <a:p>
            <a:pPr marL="45720" indent="0">
              <a:buNone/>
            </a:pPr>
            <a:r>
              <a:rPr lang="fa-IR" sz="4000" dirty="0">
                <a:solidFill>
                  <a:schemeClr val="accent4">
                    <a:lumMod val="50000"/>
                  </a:schemeClr>
                </a:solidFill>
              </a:rPr>
              <a:t>برنامه ریزی برای مواجهۀ بیشتر، یادگیری عمیق تر و توجه دقیق به موارد جزئی تر، مثلا مطالعۀ کتب یا رفرنسهای تکمیلی، بررسی ژورنالهای علمی مرتبط، تشکیل غیررسمی گروههای یادگیری</a:t>
            </a:r>
          </a:p>
          <a:p>
            <a:pPr marL="45720" indent="0">
              <a:buNone/>
            </a:pPr>
            <a:r>
              <a:rPr lang="fa-IR" sz="4000" dirty="0">
                <a:solidFill>
                  <a:srgbClr val="C00000"/>
                </a:solidFill>
              </a:rPr>
              <a:t> 2-تمایل به موفقیت در امتحان پایان ترم؟</a:t>
            </a:r>
          </a:p>
          <a:p>
            <a:pPr marL="45720" indent="0">
              <a:buNone/>
            </a:pPr>
            <a:r>
              <a:rPr lang="fa-IR" sz="4000" dirty="0">
                <a:solidFill>
                  <a:schemeClr val="accent4">
                    <a:lumMod val="50000"/>
                  </a:schemeClr>
                </a:solidFill>
              </a:rPr>
              <a:t>پیدا کردن سوالات ترمهای قبل ، حل کردن آنها، طراحی سوال از رفرنس،  رفع اشکال از استاد و سایر دانشجویان در مورد پاسخ صحیح سوالات</a:t>
            </a:r>
            <a:endParaRPr lang="en-US" sz="4000" dirty="0">
              <a:solidFill>
                <a:schemeClr val="accent4">
                  <a:lumMod val="50000"/>
                </a:schemeClr>
              </a:solidFill>
            </a:endParaRPr>
          </a:p>
          <a:p>
            <a:pPr marL="45720" indent="0">
              <a:buNone/>
            </a:pPr>
            <a:r>
              <a:rPr lang="fa-IR" sz="4000" dirty="0">
                <a:solidFill>
                  <a:srgbClr val="C00000"/>
                </a:solidFill>
              </a:rPr>
              <a:t>3- انجام کار و تمرین؟</a:t>
            </a:r>
          </a:p>
          <a:p>
            <a:pPr marL="45720" indent="0">
              <a:buNone/>
            </a:pPr>
            <a:r>
              <a:rPr lang="fa-IR" sz="4000" dirty="0">
                <a:solidFill>
                  <a:schemeClr val="accent4">
                    <a:lumMod val="50000"/>
                  </a:schemeClr>
                </a:solidFill>
              </a:rPr>
              <a:t>تمرین و کار</a:t>
            </a:r>
            <a:r>
              <a:rPr lang="en-US" sz="4000" dirty="0">
                <a:solidFill>
                  <a:schemeClr val="accent4">
                    <a:lumMod val="50000"/>
                  </a:schemeClr>
                </a:solidFill>
              </a:rPr>
              <a:t> </a:t>
            </a:r>
            <a:r>
              <a:rPr lang="fa-IR" sz="4000" dirty="0">
                <a:solidFill>
                  <a:schemeClr val="accent4">
                    <a:lumMod val="50000"/>
                  </a:schemeClr>
                </a:solidFill>
              </a:rPr>
              <a:t>بیشتر در آزمایشگاه یا </a:t>
            </a:r>
            <a:r>
              <a:rPr lang="en-US" sz="4000" dirty="0">
                <a:solidFill>
                  <a:schemeClr val="accent4">
                    <a:lumMod val="50000"/>
                  </a:schemeClr>
                </a:solidFill>
              </a:rPr>
              <a:t>skill lab</a:t>
            </a:r>
            <a:r>
              <a:rPr lang="fa-IR" sz="4000" dirty="0">
                <a:solidFill>
                  <a:schemeClr val="accent4">
                    <a:lumMod val="50000"/>
                  </a:schemeClr>
                </a:solidFill>
              </a:rPr>
              <a:t> (مرکز مهارتهای بالینی)، سالن تشریح، مولاژ، تمرین یادگیری نکات بالینی در یک مطب یا محیط جدید، بیمارستان و مراکز بالینی</a:t>
            </a:r>
          </a:p>
          <a:p>
            <a:pPr marL="45720" indent="0">
              <a:buNone/>
            </a:pPr>
            <a:r>
              <a:rPr lang="fa-IR" sz="4000" dirty="0">
                <a:solidFill>
                  <a:srgbClr val="C00000"/>
                </a:solidFill>
              </a:rPr>
              <a:t>4- تایید، تحسین و پاداش دهی دیگران؟</a:t>
            </a:r>
          </a:p>
          <a:p>
            <a:pPr marL="45720" indent="0">
              <a:buNone/>
            </a:pPr>
            <a:r>
              <a:rPr lang="fa-IR" sz="4000" dirty="0">
                <a:solidFill>
                  <a:schemeClr val="accent4">
                    <a:lumMod val="50000"/>
                  </a:schemeClr>
                </a:solidFill>
              </a:rPr>
              <a:t>گرایش به واقع گرا بودن در یادگیری ، پرسش سوالهای مناسب از متخصص برای تمجید ایشان از شما، </a:t>
            </a:r>
          </a:p>
          <a:p>
            <a:pPr marL="45720" indent="0">
              <a:buNone/>
            </a:pPr>
            <a:r>
              <a:rPr lang="fa-IR" sz="4000" dirty="0">
                <a:solidFill>
                  <a:srgbClr val="C00000"/>
                </a:solidFill>
              </a:rPr>
              <a:t>5-  فشارهای بیرونی؟</a:t>
            </a:r>
          </a:p>
          <a:p>
            <a:pPr marL="45720" indent="0">
              <a:buNone/>
            </a:pPr>
            <a:r>
              <a:rPr lang="fa-IR" sz="4000" dirty="0">
                <a:solidFill>
                  <a:schemeClr val="accent4">
                    <a:lumMod val="50000"/>
                  </a:schemeClr>
                </a:solidFill>
              </a:rPr>
              <a:t>وقتی اساتید سخت گیر مکررا شما را محک میزنند و برای یادگیری شما را تحت فشار قرار میدهند با تکلیف یا امتحان یا ضرب الاجل، به خوبی مطالعه می کنید</a:t>
            </a:r>
          </a:p>
        </p:txBody>
      </p:sp>
      <p:pic>
        <p:nvPicPr>
          <p:cNvPr id="4" name="Content Placeholder 4" descr="Students in chemistry class">
            <a:extLst>
              <a:ext uri="{FF2B5EF4-FFF2-40B4-BE49-F238E27FC236}">
                <a16:creationId xmlns:a16="http://schemas.microsoft.com/office/drawing/2014/main" id="{596B1C59-FF8C-4B42-AFBD-53CEEC43B0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320" y="-19534"/>
            <a:ext cx="2732927" cy="2010089"/>
          </a:xfrm>
          <a:prstGeom prst="rect">
            <a:avLst/>
          </a:prstGeom>
        </p:spPr>
      </p:pic>
      <p:pic>
        <p:nvPicPr>
          <p:cNvPr id="5" name="Content Placeholder 4" descr="Person using laptop">
            <a:extLst>
              <a:ext uri="{FF2B5EF4-FFF2-40B4-BE49-F238E27FC236}">
                <a16:creationId xmlns:a16="http://schemas.microsoft.com/office/drawing/2014/main" id="{8BE02682-EC86-4BD1-A519-3906186520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72792" y="227885"/>
            <a:ext cx="2744538" cy="1829514"/>
          </a:xfrm>
          <a:prstGeom prst="rect">
            <a:avLst/>
          </a:prstGeom>
        </p:spPr>
      </p:pic>
    </p:spTree>
    <p:extLst>
      <p:ext uri="{BB962C8B-B14F-4D97-AF65-F5344CB8AC3E}">
        <p14:creationId xmlns:p14="http://schemas.microsoft.com/office/powerpoint/2010/main" val="3429831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fade">
                                      <p:cBhvr>
                                        <p:cTn id="32" dur="500"/>
                                        <p:tgtEl>
                                          <p:spTgt spid="3">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5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5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DF8BA-F948-430B-9489-9374EF5ADC1B}"/>
              </a:ext>
            </a:extLst>
          </p:cNvPr>
          <p:cNvSpPr>
            <a:spLocks noGrp="1"/>
          </p:cNvSpPr>
          <p:nvPr>
            <p:ph type="title"/>
          </p:nvPr>
        </p:nvSpPr>
        <p:spPr/>
        <p:txBody>
          <a:bodyPr/>
          <a:lstStyle/>
          <a:p>
            <a:r>
              <a:rPr lang="en-US" dirty="0"/>
              <a:t>Self regulation of study skills</a:t>
            </a:r>
            <a:br>
              <a:rPr lang="en-US" dirty="0"/>
            </a:br>
            <a:r>
              <a:rPr lang="fa-IR" dirty="0"/>
              <a:t>خودتنظیمی مهارتهای مطالعه</a:t>
            </a:r>
            <a:endParaRPr lang="en-US" dirty="0"/>
          </a:p>
        </p:txBody>
      </p:sp>
      <p:sp>
        <p:nvSpPr>
          <p:cNvPr id="3" name="Content Placeholder 2">
            <a:extLst>
              <a:ext uri="{FF2B5EF4-FFF2-40B4-BE49-F238E27FC236}">
                <a16:creationId xmlns:a16="http://schemas.microsoft.com/office/drawing/2014/main" id="{C5543830-8F50-40B1-9359-0F741B0A70DF}"/>
              </a:ext>
            </a:extLst>
          </p:cNvPr>
          <p:cNvSpPr>
            <a:spLocks noGrp="1"/>
          </p:cNvSpPr>
          <p:nvPr>
            <p:ph idx="1"/>
          </p:nvPr>
        </p:nvSpPr>
        <p:spPr/>
        <p:txBody>
          <a:bodyPr>
            <a:normAutofit fontScale="92500" lnSpcReduction="20000"/>
          </a:bodyPr>
          <a:lstStyle/>
          <a:p>
            <a:r>
              <a:rPr lang="fa-IR" dirty="0"/>
              <a:t>باید </a:t>
            </a:r>
            <a:r>
              <a:rPr lang="fa-IR" dirty="0">
                <a:solidFill>
                  <a:srgbClr val="FF0000"/>
                </a:solidFill>
              </a:rPr>
              <a:t>مهارتهای مطالعه و یادگیری </a:t>
            </a:r>
            <a:r>
              <a:rPr lang="fa-IR" dirty="0"/>
              <a:t>خود را افزایش دهید سپس </a:t>
            </a:r>
            <a:r>
              <a:rPr lang="fa-IR" dirty="0">
                <a:solidFill>
                  <a:srgbClr val="FF0000"/>
                </a:solidFill>
              </a:rPr>
              <a:t>در موقع مناسب از هر یک از آنها استفاده کنید. </a:t>
            </a:r>
          </a:p>
          <a:p>
            <a:endParaRPr lang="fa-IR" dirty="0"/>
          </a:p>
          <a:p>
            <a:r>
              <a:rPr lang="fa-IR" dirty="0"/>
              <a:t>آیا شما در دبیرستان و حالا در دانشگاه از روشهای مطالعه و یادگیری </a:t>
            </a:r>
            <a:r>
              <a:rPr lang="fa-IR" dirty="0">
                <a:solidFill>
                  <a:srgbClr val="FF0000"/>
                </a:solidFill>
              </a:rPr>
              <a:t>گوناگون</a:t>
            </a:r>
            <a:r>
              <a:rPr lang="fa-IR" dirty="0"/>
              <a:t> استفاده کرده/ می کنید؟ چرا؟</a:t>
            </a:r>
          </a:p>
          <a:p>
            <a:r>
              <a:rPr lang="fa-IR" dirty="0"/>
              <a:t>آیا در باره این موضوع فکر می کنید که </a:t>
            </a:r>
            <a:r>
              <a:rPr lang="fa-IR" dirty="0">
                <a:solidFill>
                  <a:srgbClr val="FF0000"/>
                </a:solidFill>
              </a:rPr>
              <a:t>چطور بهتر یاد می گیرید</a:t>
            </a:r>
            <a:r>
              <a:rPr lang="fa-IR" dirty="0"/>
              <a:t>؟</a:t>
            </a:r>
          </a:p>
          <a:p>
            <a:r>
              <a:rPr lang="fa-IR" dirty="0"/>
              <a:t>چگونه آگاهانه </a:t>
            </a:r>
            <a:r>
              <a:rPr lang="fa-IR" dirty="0">
                <a:solidFill>
                  <a:srgbClr val="FF0000"/>
                </a:solidFill>
              </a:rPr>
              <a:t>انتخاب کنید </a:t>
            </a:r>
            <a:r>
              <a:rPr lang="fa-IR" dirty="0"/>
              <a:t>که چطور مطالب را یاد بگیرید؟</a:t>
            </a:r>
          </a:p>
          <a:p>
            <a:endParaRPr lang="fa-IR" dirty="0"/>
          </a:p>
          <a:p>
            <a:r>
              <a:rPr lang="fa-IR" dirty="0"/>
              <a:t>فراگیرانی که </a:t>
            </a:r>
            <a:r>
              <a:rPr lang="fa-IR" dirty="0">
                <a:solidFill>
                  <a:srgbClr val="FF0000"/>
                </a:solidFill>
              </a:rPr>
              <a:t>میدانند چطور بهتر یاد می گیرند </a:t>
            </a:r>
            <a:r>
              <a:rPr lang="fa-IR" dirty="0"/>
              <a:t>نسبت به دیگران </a:t>
            </a:r>
            <a:r>
              <a:rPr lang="fa-IR" dirty="0">
                <a:solidFill>
                  <a:srgbClr val="FF0000"/>
                </a:solidFill>
              </a:rPr>
              <a:t>عملکرد بهتری </a:t>
            </a:r>
            <a:r>
              <a:rPr lang="fa-IR" dirty="0"/>
              <a:t>دارند.</a:t>
            </a:r>
          </a:p>
          <a:p>
            <a:endParaRPr lang="fa-IR" dirty="0"/>
          </a:p>
          <a:p>
            <a:endParaRPr lang="en-US" dirty="0"/>
          </a:p>
        </p:txBody>
      </p:sp>
    </p:spTree>
    <p:extLst>
      <p:ext uri="{BB962C8B-B14F-4D97-AF65-F5344CB8AC3E}">
        <p14:creationId xmlns:p14="http://schemas.microsoft.com/office/powerpoint/2010/main" val="3315500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E01DB-BAB8-4D26-9599-1C6874F830D7}"/>
              </a:ext>
            </a:extLst>
          </p:cNvPr>
          <p:cNvSpPr>
            <a:spLocks noGrp="1"/>
          </p:cNvSpPr>
          <p:nvPr>
            <p:ph type="title"/>
          </p:nvPr>
        </p:nvSpPr>
        <p:spPr/>
        <p:txBody>
          <a:bodyPr/>
          <a:lstStyle/>
          <a:p>
            <a:r>
              <a:rPr lang="fa-IR" dirty="0"/>
              <a:t>چگونه متوجه می شوید که راجع به مطلبی آگاهی کافی دارید؟</a:t>
            </a:r>
            <a:endParaRPr lang="en-US" dirty="0"/>
          </a:p>
        </p:txBody>
      </p:sp>
      <p:sp>
        <p:nvSpPr>
          <p:cNvPr id="4" name="Content Placeholder 3">
            <a:extLst>
              <a:ext uri="{FF2B5EF4-FFF2-40B4-BE49-F238E27FC236}">
                <a16:creationId xmlns:a16="http://schemas.microsoft.com/office/drawing/2014/main" id="{BB7C4911-2163-484B-A090-86FA15AFBCE2}"/>
              </a:ext>
            </a:extLst>
          </p:cNvPr>
          <p:cNvSpPr>
            <a:spLocks noGrp="1"/>
          </p:cNvSpPr>
          <p:nvPr>
            <p:ph idx="1"/>
          </p:nvPr>
        </p:nvSpPr>
        <p:spPr/>
        <p:txBody>
          <a:bodyPr>
            <a:normAutofit/>
          </a:bodyPr>
          <a:lstStyle/>
          <a:p>
            <a:r>
              <a:rPr lang="fa-IR" sz="3200" dirty="0"/>
              <a:t>چطور ثابت می کنید که مطلبی را خوب یاد گرفته اید؟</a:t>
            </a:r>
            <a:endParaRPr lang="en-US" sz="3200" dirty="0"/>
          </a:p>
        </p:txBody>
      </p:sp>
      <p:pic>
        <p:nvPicPr>
          <p:cNvPr id="6" name="Content Placeholder 4" descr="Working with tablet computers in a classroom">
            <a:extLst>
              <a:ext uri="{FF2B5EF4-FFF2-40B4-BE49-F238E27FC236}">
                <a16:creationId xmlns:a16="http://schemas.microsoft.com/office/drawing/2014/main" id="{1124ECD7-E876-4253-8A8F-F5FA9FE25E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68744" y="2756043"/>
            <a:ext cx="4722264" cy="3151598"/>
          </a:xfrm>
          <a:prstGeom prst="rect">
            <a:avLst/>
          </a:prstGeom>
        </p:spPr>
      </p:pic>
    </p:spTree>
    <p:extLst>
      <p:ext uri="{BB962C8B-B14F-4D97-AF65-F5344CB8AC3E}">
        <p14:creationId xmlns:p14="http://schemas.microsoft.com/office/powerpoint/2010/main" val="2258712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60279-7912-40D9-B795-FC9B5E7E91DA}"/>
              </a:ext>
            </a:extLst>
          </p:cNvPr>
          <p:cNvSpPr>
            <a:spLocks noGrp="1"/>
          </p:cNvSpPr>
          <p:nvPr>
            <p:ph type="title"/>
          </p:nvPr>
        </p:nvSpPr>
        <p:spPr/>
        <p:txBody>
          <a:bodyPr/>
          <a:lstStyle/>
          <a:p>
            <a:r>
              <a:rPr lang="fa-IR" dirty="0"/>
              <a:t>نتیجه سنجش سبک یادگیری شما</a:t>
            </a:r>
            <a:endParaRPr lang="en-US" dirty="0"/>
          </a:p>
        </p:txBody>
      </p:sp>
      <p:pic>
        <p:nvPicPr>
          <p:cNvPr id="6" name="Content Placeholder 4" descr="Students in chemistry class">
            <a:extLst>
              <a:ext uri="{FF2B5EF4-FFF2-40B4-BE49-F238E27FC236}">
                <a16:creationId xmlns:a16="http://schemas.microsoft.com/office/drawing/2014/main" id="{A6DFF1CA-0370-46A0-8267-70E3F87642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9869" y="2015409"/>
            <a:ext cx="5490899" cy="4038600"/>
          </a:xfrm>
          <a:prstGeom prst="rect">
            <a:avLst/>
          </a:prstGeom>
        </p:spPr>
      </p:pic>
      <p:sp>
        <p:nvSpPr>
          <p:cNvPr id="8" name="Content Placeholder 7">
            <a:extLst>
              <a:ext uri="{FF2B5EF4-FFF2-40B4-BE49-F238E27FC236}">
                <a16:creationId xmlns:a16="http://schemas.microsoft.com/office/drawing/2014/main" id="{0469E72A-1C07-49A2-8E94-129786F35BD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288421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91CA8-08FA-43C1-BB6C-79E4EB17AFE4}"/>
              </a:ext>
            </a:extLst>
          </p:cNvPr>
          <p:cNvSpPr>
            <a:spLocks noGrp="1"/>
          </p:cNvSpPr>
          <p:nvPr>
            <p:ph type="title"/>
          </p:nvPr>
        </p:nvSpPr>
        <p:spPr/>
        <p:txBody>
          <a:bodyPr/>
          <a:lstStyle/>
          <a:p>
            <a:endParaRPr lang="en-US" dirty="0"/>
          </a:p>
        </p:txBody>
      </p:sp>
      <p:pic>
        <p:nvPicPr>
          <p:cNvPr id="7" name="Picture 6">
            <a:extLst>
              <a:ext uri="{FF2B5EF4-FFF2-40B4-BE49-F238E27FC236}">
                <a16:creationId xmlns:a16="http://schemas.microsoft.com/office/drawing/2014/main" id="{39DE3EE6-02FC-44F9-8A4A-68CA1B5CB0D1}"/>
              </a:ext>
            </a:extLst>
          </p:cNvPr>
          <p:cNvPicPr>
            <a:picLocks noChangeAspect="1"/>
          </p:cNvPicPr>
          <p:nvPr/>
        </p:nvPicPr>
        <p:blipFill>
          <a:blip r:embed="rId2"/>
          <a:stretch>
            <a:fillRect/>
          </a:stretch>
        </p:blipFill>
        <p:spPr>
          <a:xfrm>
            <a:off x="1172180" y="191100"/>
            <a:ext cx="10820400" cy="6615482"/>
          </a:xfrm>
          <a:prstGeom prst="rect">
            <a:avLst/>
          </a:prstGeom>
        </p:spPr>
      </p:pic>
      <p:pic>
        <p:nvPicPr>
          <p:cNvPr id="5" name="Content Placeholder 4" descr="Person enjoying coffee and relaxing on a sofa">
            <a:extLst>
              <a:ext uri="{FF2B5EF4-FFF2-40B4-BE49-F238E27FC236}">
                <a16:creationId xmlns:a16="http://schemas.microsoft.com/office/drawing/2014/main" id="{ACD4214B-52EB-490A-BD00-75EB7D57EA7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8949" y="191099"/>
            <a:ext cx="1824404" cy="1774861"/>
          </a:xfrm>
        </p:spPr>
      </p:pic>
    </p:spTree>
    <p:extLst>
      <p:ext uri="{BB962C8B-B14F-4D97-AF65-F5344CB8AC3E}">
        <p14:creationId xmlns:p14="http://schemas.microsoft.com/office/powerpoint/2010/main" val="2321059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5A473-3120-4DF6-BC93-515AB5F3F72A}"/>
              </a:ext>
            </a:extLst>
          </p:cNvPr>
          <p:cNvSpPr>
            <a:spLocks noGrp="1"/>
          </p:cNvSpPr>
          <p:nvPr>
            <p:ph type="ctrTitle"/>
          </p:nvPr>
        </p:nvSpPr>
        <p:spPr>
          <a:xfrm>
            <a:off x="678207" y="2092915"/>
            <a:ext cx="10835586" cy="2890536"/>
          </a:xfrm>
        </p:spPr>
        <p:txBody>
          <a:bodyPr>
            <a:normAutofit fontScale="90000"/>
          </a:bodyPr>
          <a:lstStyle/>
          <a:p>
            <a:pPr>
              <a:lnSpc>
                <a:spcPct val="150000"/>
              </a:lnSpc>
            </a:pPr>
            <a:r>
              <a:rPr lang="fa-IR" dirty="0"/>
              <a:t>راهبردهای موثر برای فراگیری دانش و بهبود فرایند یادگیری</a:t>
            </a:r>
            <a:br>
              <a:rPr lang="en-US" dirty="0"/>
            </a:br>
            <a:r>
              <a:rPr lang="fa-IR" dirty="0"/>
              <a:t>در رشته پزشکی</a:t>
            </a:r>
            <a:endParaRPr lang="en-US" dirty="0"/>
          </a:p>
        </p:txBody>
      </p:sp>
      <p:sp>
        <p:nvSpPr>
          <p:cNvPr id="3" name="Subtitle 2">
            <a:extLst>
              <a:ext uri="{FF2B5EF4-FFF2-40B4-BE49-F238E27FC236}">
                <a16:creationId xmlns:a16="http://schemas.microsoft.com/office/drawing/2014/main" id="{ED4E1A0C-C9FB-4E4B-9F79-F188C598841F}"/>
              </a:ext>
            </a:extLst>
          </p:cNvPr>
          <p:cNvSpPr>
            <a:spLocks noGrp="1"/>
          </p:cNvSpPr>
          <p:nvPr>
            <p:ph type="subTitle" idx="1"/>
          </p:nvPr>
        </p:nvSpPr>
        <p:spPr>
          <a:xfrm>
            <a:off x="1398245" y="5095319"/>
            <a:ext cx="8767860" cy="1388165"/>
          </a:xfrm>
        </p:spPr>
        <p:txBody>
          <a:bodyPr/>
          <a:lstStyle/>
          <a:p>
            <a:endParaRPr lang="en-US" dirty="0"/>
          </a:p>
        </p:txBody>
      </p:sp>
    </p:spTree>
    <p:extLst>
      <p:ext uri="{BB962C8B-B14F-4D97-AF65-F5344CB8AC3E}">
        <p14:creationId xmlns:p14="http://schemas.microsoft.com/office/powerpoint/2010/main" val="3193553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EDD54-E57A-49A7-8809-89ECED2950BF}"/>
              </a:ext>
            </a:extLst>
          </p:cNvPr>
          <p:cNvSpPr>
            <a:spLocks noGrp="1"/>
          </p:cNvSpPr>
          <p:nvPr>
            <p:ph type="title"/>
          </p:nvPr>
        </p:nvSpPr>
        <p:spPr>
          <a:xfrm>
            <a:off x="1143000" y="6486"/>
            <a:ext cx="9875520" cy="1356360"/>
          </a:xfrm>
        </p:spPr>
        <p:txBody>
          <a:bodyPr/>
          <a:lstStyle/>
          <a:p>
            <a:r>
              <a:rPr lang="fa-IR" dirty="0"/>
              <a:t>ویژگیهای رشته پزشکی</a:t>
            </a:r>
            <a:endParaRPr lang="en-US" dirty="0"/>
          </a:p>
        </p:txBody>
      </p:sp>
      <p:pic>
        <p:nvPicPr>
          <p:cNvPr id="1028" name="Picture 4" descr="How Many Books Are There in the World? | HowStuffWorks">
            <a:extLst>
              <a:ext uri="{FF2B5EF4-FFF2-40B4-BE49-F238E27FC236}">
                <a16:creationId xmlns:a16="http://schemas.microsoft.com/office/drawing/2014/main" id="{291C638E-42CF-47E9-997A-9D9A6816E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67" y="305306"/>
            <a:ext cx="2857500" cy="1600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F511A3B-BB25-48B1-AD9B-7A22C9DCF822}"/>
              </a:ext>
            </a:extLst>
          </p:cNvPr>
          <p:cNvSpPr txBox="1"/>
          <p:nvPr/>
        </p:nvSpPr>
        <p:spPr>
          <a:xfrm>
            <a:off x="9309040" y="173036"/>
            <a:ext cx="2724561" cy="3046988"/>
          </a:xfrm>
          <a:prstGeom prst="rect">
            <a:avLst/>
          </a:prstGeom>
          <a:solidFill>
            <a:schemeClr val="accent1"/>
          </a:solidFill>
        </p:spPr>
        <p:txBody>
          <a:bodyPr wrap="square" rtlCol="0">
            <a:spAutoFit/>
          </a:bodyPr>
          <a:lstStyle/>
          <a:p>
            <a:pPr algn="r" rtl="1"/>
            <a:r>
              <a:rPr lang="fa-IR" sz="2400" b="1" dirty="0">
                <a:cs typeface="B Mitra" panose="00000400000000000000" pitchFamily="2" charset="-78"/>
              </a:rPr>
              <a:t>شما :</a:t>
            </a:r>
          </a:p>
          <a:p>
            <a:pPr algn="r" rtl="1"/>
            <a:r>
              <a:rPr lang="fa-IR" sz="2400" b="1" dirty="0">
                <a:cs typeface="B Mitra" panose="00000400000000000000" pitchFamily="2" charset="-78"/>
              </a:rPr>
              <a:t>افراد با هوش، تلاشگر</a:t>
            </a:r>
          </a:p>
          <a:p>
            <a:pPr algn="r" rtl="1"/>
            <a:r>
              <a:rPr lang="fa-IR" sz="2400" b="1" dirty="0">
                <a:cs typeface="B Mitra" panose="00000400000000000000" pitchFamily="2" charset="-78"/>
              </a:rPr>
              <a:t>عملکرد خوب در دبیرستان </a:t>
            </a:r>
          </a:p>
          <a:p>
            <a:pPr algn="r" rtl="1"/>
            <a:r>
              <a:rPr lang="fa-IR" sz="2400" b="1" dirty="0">
                <a:cs typeface="B Mitra" panose="00000400000000000000" pitchFamily="2" charset="-78"/>
              </a:rPr>
              <a:t>با نتایج عالی در آزمونهای دبیرستان</a:t>
            </a:r>
          </a:p>
          <a:p>
            <a:pPr algn="r" rtl="1"/>
            <a:r>
              <a:rPr lang="fa-IR" sz="2400" b="1" dirty="0">
                <a:cs typeface="B Mitra" panose="00000400000000000000" pitchFamily="2" charset="-78"/>
              </a:rPr>
              <a:t>و قبولی در سختترین آزمون </a:t>
            </a:r>
          </a:p>
        </p:txBody>
      </p:sp>
      <p:sp>
        <p:nvSpPr>
          <p:cNvPr id="5" name="Content Placeholder 4">
            <a:extLst>
              <a:ext uri="{FF2B5EF4-FFF2-40B4-BE49-F238E27FC236}">
                <a16:creationId xmlns:a16="http://schemas.microsoft.com/office/drawing/2014/main" id="{D5C5507F-2400-40FA-B956-EA7BBF8C9149}"/>
              </a:ext>
            </a:extLst>
          </p:cNvPr>
          <p:cNvSpPr>
            <a:spLocks noGrp="1"/>
          </p:cNvSpPr>
          <p:nvPr>
            <p:ph idx="1"/>
          </p:nvPr>
        </p:nvSpPr>
        <p:spPr>
          <a:xfrm>
            <a:off x="2665379" y="1221159"/>
            <a:ext cx="6322979" cy="3579778"/>
          </a:xfrm>
          <a:solidFill>
            <a:srgbClr val="FFFF00"/>
          </a:solidFill>
        </p:spPr>
        <p:txBody>
          <a:bodyPr>
            <a:noAutofit/>
          </a:bodyPr>
          <a:lstStyle/>
          <a:p>
            <a:pPr algn="r" rtl="1"/>
            <a:r>
              <a:rPr lang="fa-IR" sz="3200" dirty="0">
                <a:cs typeface="B Mitra" panose="00000400000000000000" pitchFamily="2" charset="-78"/>
              </a:rPr>
              <a:t>برنامه درسی دانشگاه شما شبیه دبیرستان نیست.</a:t>
            </a:r>
          </a:p>
          <a:p>
            <a:pPr algn="r" rtl="1"/>
            <a:r>
              <a:rPr lang="fa-IR" sz="3200" dirty="0">
                <a:cs typeface="B Mitra" panose="00000400000000000000" pitchFamily="2" charset="-78"/>
              </a:rPr>
              <a:t>حجم محتوای بسیار زیاد، سالهای طولانی</a:t>
            </a:r>
          </a:p>
          <a:p>
            <a:pPr algn="r" rtl="1"/>
            <a:r>
              <a:rPr lang="fa-IR" sz="3200" dirty="0">
                <a:cs typeface="B Mitra" panose="00000400000000000000" pitchFamily="2" charset="-78"/>
              </a:rPr>
              <a:t>حجم کار بسیار بالا، محیط پر تنش یادگیری</a:t>
            </a:r>
          </a:p>
          <a:p>
            <a:pPr algn="r" rtl="1"/>
            <a:r>
              <a:rPr lang="fa-IR" sz="3200" dirty="0">
                <a:cs typeface="B Mitra" panose="00000400000000000000" pitchFamily="2" charset="-78"/>
              </a:rPr>
              <a:t>بدون تلاش و تمرین امکان حافظه سپاری وجود ندارد.</a:t>
            </a:r>
          </a:p>
          <a:p>
            <a:pPr algn="r" rtl="1"/>
            <a:r>
              <a:rPr lang="fa-IR" sz="3200" dirty="0">
                <a:cs typeface="B Mitra" panose="00000400000000000000" pitchFamily="2" charset="-78"/>
              </a:rPr>
              <a:t>تمام مطالب درسی در کلاس آموزش داده نمی شود!! </a:t>
            </a:r>
          </a:p>
          <a:p>
            <a:pPr marL="45720" indent="0" algn="r" rtl="1">
              <a:buNone/>
            </a:pPr>
            <a:r>
              <a:rPr lang="fa-IR" sz="2800" dirty="0">
                <a:cs typeface="B Mitra" panose="00000400000000000000" pitchFamily="2" charset="-78"/>
              </a:rPr>
              <a:t> </a:t>
            </a:r>
          </a:p>
          <a:p>
            <a:endParaRPr lang="en-US" sz="2800" dirty="0"/>
          </a:p>
        </p:txBody>
      </p:sp>
      <p:pic>
        <p:nvPicPr>
          <p:cNvPr id="9" name="Picture 6" descr="Cruel calculator will tell you how many extra books you could read a year  if you quit social media. ‹ Literary Hub">
            <a:extLst>
              <a:ext uri="{FF2B5EF4-FFF2-40B4-BE49-F238E27FC236}">
                <a16:creationId xmlns:a16="http://schemas.microsoft.com/office/drawing/2014/main" id="{4854ED3D-3E85-4C0E-98B2-2AF94DBCCD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06" y="5057269"/>
            <a:ext cx="2824361" cy="1495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990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descr="Young girl focusing on a mechcanical project">
            <a:extLst>
              <a:ext uri="{FF2B5EF4-FFF2-40B4-BE49-F238E27FC236}">
                <a16:creationId xmlns:a16="http://schemas.microsoft.com/office/drawing/2014/main" id="{E6817BF2-D41E-46F7-BCCF-68B67B8CC3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8100"/>
            <a:ext cx="4746408" cy="4038600"/>
          </a:xfrm>
          <a:prstGeom prst="rect">
            <a:avLst/>
          </a:prstGeom>
        </p:spPr>
      </p:pic>
      <p:sp>
        <p:nvSpPr>
          <p:cNvPr id="2" name="Title 1">
            <a:extLst>
              <a:ext uri="{FF2B5EF4-FFF2-40B4-BE49-F238E27FC236}">
                <a16:creationId xmlns:a16="http://schemas.microsoft.com/office/drawing/2014/main" id="{DF0869B6-1569-45C3-AFCC-F031E0DCB1A1}"/>
              </a:ext>
            </a:extLst>
          </p:cNvPr>
          <p:cNvSpPr>
            <a:spLocks noGrp="1"/>
          </p:cNvSpPr>
          <p:nvPr>
            <p:ph type="title"/>
          </p:nvPr>
        </p:nvSpPr>
        <p:spPr>
          <a:xfrm>
            <a:off x="4980562" y="609600"/>
            <a:ext cx="6037958" cy="1356360"/>
          </a:xfrm>
        </p:spPr>
        <p:txBody>
          <a:bodyPr/>
          <a:lstStyle/>
          <a:p>
            <a:r>
              <a:rPr lang="fa-IR" dirty="0"/>
              <a:t>انتظارات از دانشجوی پزشکی</a:t>
            </a:r>
            <a:endParaRPr lang="en-US" dirty="0"/>
          </a:p>
        </p:txBody>
      </p:sp>
      <p:sp>
        <p:nvSpPr>
          <p:cNvPr id="4" name="Content Placeholder 3">
            <a:extLst>
              <a:ext uri="{FF2B5EF4-FFF2-40B4-BE49-F238E27FC236}">
                <a16:creationId xmlns:a16="http://schemas.microsoft.com/office/drawing/2014/main" id="{03C75233-2D12-4A9F-9A2D-B1AB8B8C55EC}"/>
              </a:ext>
            </a:extLst>
          </p:cNvPr>
          <p:cNvSpPr>
            <a:spLocks noGrp="1"/>
          </p:cNvSpPr>
          <p:nvPr>
            <p:ph idx="1"/>
          </p:nvPr>
        </p:nvSpPr>
        <p:spPr>
          <a:xfrm>
            <a:off x="4746408" y="1823940"/>
            <a:ext cx="7043515" cy="4762500"/>
          </a:xfrm>
          <a:solidFill>
            <a:schemeClr val="accent5">
              <a:lumMod val="60000"/>
              <a:lumOff val="40000"/>
            </a:schemeClr>
          </a:solidFill>
        </p:spPr>
        <p:txBody>
          <a:bodyPr>
            <a:noAutofit/>
          </a:bodyPr>
          <a:lstStyle/>
          <a:p>
            <a:r>
              <a:rPr lang="fa-IR" sz="3200" dirty="0">
                <a:solidFill>
                  <a:schemeClr val="tx2">
                    <a:lumMod val="50000"/>
                  </a:schemeClr>
                </a:solidFill>
                <a:cs typeface="B Mitra" panose="00000400000000000000" pitchFamily="2" charset="-78"/>
              </a:rPr>
              <a:t>معمولا باید قبل از ارائه درس جدید آنها را مطالعه و فراگرفته باشید</a:t>
            </a:r>
          </a:p>
          <a:p>
            <a:r>
              <a:rPr lang="fa-IR" sz="3200" dirty="0">
                <a:solidFill>
                  <a:schemeClr val="tx2">
                    <a:lumMod val="50000"/>
                  </a:schemeClr>
                </a:solidFill>
              </a:rPr>
              <a:t>خودتان باید تصمیم بگیرید و به نتیجه برسید که </a:t>
            </a:r>
            <a:r>
              <a:rPr lang="fa-IR" dirty="0">
                <a:solidFill>
                  <a:schemeClr val="tx2">
                    <a:lumMod val="50000"/>
                  </a:schemeClr>
                </a:solidFill>
              </a:rPr>
              <a:t>چ</a:t>
            </a:r>
            <a:r>
              <a:rPr lang="fa-IR" sz="3200" dirty="0">
                <a:solidFill>
                  <a:schemeClr val="tx2">
                    <a:lumMod val="50000"/>
                  </a:schemeClr>
                </a:solidFill>
              </a:rPr>
              <a:t>ه مطالبی را باید بیاموزید</a:t>
            </a:r>
          </a:p>
          <a:p>
            <a:r>
              <a:rPr lang="fa-IR" sz="3200" dirty="0">
                <a:solidFill>
                  <a:schemeClr val="tx2">
                    <a:lumMod val="50000"/>
                  </a:schemeClr>
                </a:solidFill>
              </a:rPr>
              <a:t> روش مطالعه و یادگیریتان را خودتان باید تعیین و اجرا کنید</a:t>
            </a:r>
          </a:p>
          <a:p>
            <a:r>
              <a:rPr lang="fa-IR" sz="3200" dirty="0">
                <a:solidFill>
                  <a:schemeClr val="tx2">
                    <a:lumMod val="50000"/>
                  </a:schemeClr>
                </a:solidFill>
              </a:rPr>
              <a:t>خودتان متوجه می شوید چه زمانی آنها را به خوبی فراگرفته اید</a:t>
            </a:r>
          </a:p>
          <a:p>
            <a:r>
              <a:rPr lang="fa-IR" sz="3200" dirty="0">
                <a:solidFill>
                  <a:schemeClr val="tx2">
                    <a:lumMod val="50000"/>
                  </a:schemeClr>
                </a:solidFill>
              </a:rPr>
              <a:t>و اینکه چگونه باید مطالب بیشتری را از این موضوع یاد بگیرید</a:t>
            </a:r>
            <a:endParaRPr lang="en-US" sz="3200" dirty="0">
              <a:solidFill>
                <a:schemeClr val="tx2">
                  <a:lumMod val="50000"/>
                </a:schemeClr>
              </a:solidFill>
            </a:endParaRPr>
          </a:p>
        </p:txBody>
      </p:sp>
    </p:spTree>
    <p:extLst>
      <p:ext uri="{BB962C8B-B14F-4D97-AF65-F5344CB8AC3E}">
        <p14:creationId xmlns:p14="http://schemas.microsoft.com/office/powerpoint/2010/main" val="930974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3F646-B544-4CED-9C86-09E19E2AB23C}"/>
              </a:ext>
            </a:extLst>
          </p:cNvPr>
          <p:cNvSpPr>
            <a:spLocks noGrp="1"/>
          </p:cNvSpPr>
          <p:nvPr>
            <p:ph type="title"/>
          </p:nvPr>
        </p:nvSpPr>
        <p:spPr>
          <a:xfrm>
            <a:off x="4046705" y="-149158"/>
            <a:ext cx="7957226" cy="1404026"/>
          </a:xfrm>
        </p:spPr>
        <p:txBody>
          <a:bodyPr/>
          <a:lstStyle/>
          <a:p>
            <a:r>
              <a:rPr lang="fa-IR" dirty="0"/>
              <a:t>نیاز دانشجوی پزشکی</a:t>
            </a:r>
            <a:endParaRPr lang="en-US" dirty="0"/>
          </a:p>
        </p:txBody>
      </p:sp>
      <p:pic>
        <p:nvPicPr>
          <p:cNvPr id="5" name="Content Placeholder 4" descr="Child covering face">
            <a:extLst>
              <a:ext uri="{FF2B5EF4-FFF2-40B4-BE49-F238E27FC236}">
                <a16:creationId xmlns:a16="http://schemas.microsoft.com/office/drawing/2014/main" id="{F05FCB07-9C12-464E-91D8-0249D34E04D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18353"/>
            <a:ext cx="2923064" cy="2106038"/>
          </a:xfrm>
        </p:spPr>
      </p:pic>
      <p:sp>
        <p:nvSpPr>
          <p:cNvPr id="3" name="TextBox 2">
            <a:extLst>
              <a:ext uri="{FF2B5EF4-FFF2-40B4-BE49-F238E27FC236}">
                <a16:creationId xmlns:a16="http://schemas.microsoft.com/office/drawing/2014/main" id="{3F6FA8FF-9297-447B-AE7E-4DDBAF480BD9}"/>
              </a:ext>
            </a:extLst>
          </p:cNvPr>
          <p:cNvSpPr txBox="1"/>
          <p:nvPr/>
        </p:nvSpPr>
        <p:spPr>
          <a:xfrm>
            <a:off x="953311" y="1591274"/>
            <a:ext cx="10719879" cy="5009064"/>
          </a:xfrm>
          <a:prstGeom prst="rect">
            <a:avLst/>
          </a:prstGeom>
          <a:solidFill>
            <a:schemeClr val="accent1">
              <a:lumMod val="60000"/>
              <a:lumOff val="40000"/>
            </a:schemeClr>
          </a:solidFill>
        </p:spPr>
        <p:txBody>
          <a:bodyPr wrap="square" rtlCol="0">
            <a:spAutoFit/>
          </a:bodyPr>
          <a:lstStyle/>
          <a:p>
            <a:pPr marL="285750" indent="-285750" algn="r" rtl="1">
              <a:lnSpc>
                <a:spcPct val="150000"/>
              </a:lnSpc>
              <a:buFont typeface="Arial" panose="020B0604020202020204" pitchFamily="34" charset="0"/>
              <a:buChar char="•"/>
            </a:pPr>
            <a:r>
              <a:rPr lang="fa-IR" sz="3600" dirty="0">
                <a:solidFill>
                  <a:srgbClr val="002060"/>
                </a:solidFill>
                <a:cs typeface="B Mitra" panose="00000400000000000000" pitchFamily="2" charset="-78"/>
              </a:rPr>
              <a:t>نیازمند </a:t>
            </a:r>
            <a:r>
              <a:rPr lang="fa-IR" sz="3600" dirty="0">
                <a:solidFill>
                  <a:srgbClr val="002060"/>
                </a:solidFill>
                <a:highlight>
                  <a:srgbClr val="FFFF00"/>
                </a:highlight>
                <a:cs typeface="B Mitra" panose="00000400000000000000" pitchFamily="2" charset="-78"/>
              </a:rPr>
              <a:t>تلاش آگاهانه</a:t>
            </a:r>
            <a:r>
              <a:rPr lang="fa-IR" sz="3600" dirty="0">
                <a:solidFill>
                  <a:srgbClr val="002060"/>
                </a:solidFill>
                <a:cs typeface="B Mitra" panose="00000400000000000000" pitchFamily="2" charset="-78"/>
              </a:rPr>
              <a:t> و حساب شده </a:t>
            </a:r>
            <a:r>
              <a:rPr lang="fa-IR" sz="3600" dirty="0">
                <a:solidFill>
                  <a:srgbClr val="002060"/>
                </a:solidFill>
                <a:highlight>
                  <a:srgbClr val="FFFF00"/>
                </a:highlight>
                <a:cs typeface="B Mitra" panose="00000400000000000000" pitchFamily="2" charset="-78"/>
              </a:rPr>
              <a:t>در طول زمان </a:t>
            </a:r>
            <a:r>
              <a:rPr lang="fa-IR" sz="3600" dirty="0">
                <a:solidFill>
                  <a:srgbClr val="002060"/>
                </a:solidFill>
                <a:cs typeface="B Mitra" panose="00000400000000000000" pitchFamily="2" charset="-78"/>
              </a:rPr>
              <a:t>برای یادگیری مطالب </a:t>
            </a:r>
          </a:p>
          <a:p>
            <a:pPr marL="285750" indent="-285750" algn="r" rtl="1">
              <a:lnSpc>
                <a:spcPct val="150000"/>
              </a:lnSpc>
              <a:buFont typeface="Arial" panose="020B0604020202020204" pitchFamily="34" charset="0"/>
              <a:buChar char="•"/>
            </a:pPr>
            <a:r>
              <a:rPr lang="fa-IR" sz="3600" dirty="0">
                <a:solidFill>
                  <a:srgbClr val="002060"/>
                </a:solidFill>
                <a:cs typeface="B Mitra" panose="00000400000000000000" pitchFamily="2" charset="-78"/>
              </a:rPr>
              <a:t>نیاز به یادگیری </a:t>
            </a:r>
            <a:r>
              <a:rPr lang="fa-IR" sz="3600" dirty="0">
                <a:solidFill>
                  <a:srgbClr val="002060"/>
                </a:solidFill>
                <a:highlight>
                  <a:srgbClr val="FFFF00"/>
                </a:highlight>
                <a:cs typeface="B Mitra" panose="00000400000000000000" pitchFamily="2" charset="-78"/>
              </a:rPr>
              <a:t>تکنیکهای جدید مطالعه </a:t>
            </a:r>
            <a:r>
              <a:rPr lang="fa-IR" sz="3600" dirty="0">
                <a:solidFill>
                  <a:srgbClr val="002060"/>
                </a:solidFill>
                <a:cs typeface="B Mitra" panose="00000400000000000000" pitchFamily="2" charset="-78"/>
              </a:rPr>
              <a:t>و یادگیری</a:t>
            </a:r>
          </a:p>
          <a:p>
            <a:pPr marL="285750" indent="-285750" algn="r" rtl="1">
              <a:lnSpc>
                <a:spcPct val="150000"/>
              </a:lnSpc>
              <a:buFont typeface="Arial" panose="020B0604020202020204" pitchFamily="34" charset="0"/>
              <a:buChar char="•"/>
            </a:pPr>
            <a:r>
              <a:rPr lang="fa-IR" sz="3600" dirty="0">
                <a:solidFill>
                  <a:srgbClr val="002060"/>
                </a:solidFill>
                <a:cs typeface="B Mitra" panose="00000400000000000000" pitchFamily="2" charset="-78"/>
              </a:rPr>
              <a:t>نیاز به </a:t>
            </a:r>
            <a:r>
              <a:rPr lang="fa-IR" sz="3600" dirty="0">
                <a:solidFill>
                  <a:srgbClr val="002060"/>
                </a:solidFill>
                <a:highlight>
                  <a:srgbClr val="FFFF00"/>
                </a:highlight>
                <a:cs typeface="B Mitra" panose="00000400000000000000" pitchFamily="2" charset="-78"/>
              </a:rPr>
              <a:t>اولویت بندی مطالب </a:t>
            </a:r>
            <a:r>
              <a:rPr lang="fa-IR" sz="3600" dirty="0">
                <a:solidFill>
                  <a:srgbClr val="002060"/>
                </a:solidFill>
                <a:cs typeface="B Mitra" panose="00000400000000000000" pitchFamily="2" charset="-78"/>
              </a:rPr>
              <a:t>به دلیل بی حد و مرز بودن اطلاعات پزشکی</a:t>
            </a:r>
          </a:p>
          <a:p>
            <a:pPr marL="285750" indent="-285750" algn="r" rtl="1">
              <a:lnSpc>
                <a:spcPct val="150000"/>
              </a:lnSpc>
              <a:buFont typeface="Arial" panose="020B0604020202020204" pitchFamily="34" charset="0"/>
              <a:buChar char="•"/>
            </a:pPr>
            <a:r>
              <a:rPr lang="fa-IR" sz="3600" dirty="0">
                <a:solidFill>
                  <a:srgbClr val="002060"/>
                </a:solidFill>
                <a:highlight>
                  <a:srgbClr val="FFFF00"/>
                </a:highlight>
                <a:cs typeface="B Mitra" panose="00000400000000000000" pitchFamily="2" charset="-78"/>
              </a:rPr>
              <a:t>یادگیری منظم و پویا </a:t>
            </a:r>
            <a:r>
              <a:rPr lang="fa-IR" sz="3600" dirty="0">
                <a:solidFill>
                  <a:srgbClr val="002060"/>
                </a:solidFill>
                <a:cs typeface="B Mitra" panose="00000400000000000000" pitchFamily="2" charset="-78"/>
              </a:rPr>
              <a:t>و توسط خودتان، تنها راه برای یادگیری حجم بسیار زیاد مطالب </a:t>
            </a:r>
          </a:p>
          <a:p>
            <a:pPr marL="285750" indent="-285750" algn="r" rtl="1">
              <a:lnSpc>
                <a:spcPct val="150000"/>
              </a:lnSpc>
              <a:buFont typeface="Arial" panose="020B0604020202020204" pitchFamily="34" charset="0"/>
              <a:buChar char="•"/>
            </a:pPr>
            <a:r>
              <a:rPr lang="fa-IR" sz="3600" dirty="0">
                <a:solidFill>
                  <a:srgbClr val="002060"/>
                </a:solidFill>
                <a:cs typeface="B Mitra" panose="00000400000000000000" pitchFamily="2" charset="-78"/>
              </a:rPr>
              <a:t>نیاز به </a:t>
            </a:r>
            <a:r>
              <a:rPr lang="fa-IR" sz="3600" dirty="0">
                <a:solidFill>
                  <a:srgbClr val="002060"/>
                </a:solidFill>
                <a:highlight>
                  <a:srgbClr val="FFFF00"/>
                </a:highlight>
                <a:cs typeface="B Mitra" panose="00000400000000000000" pitchFamily="2" charset="-78"/>
              </a:rPr>
              <a:t>یادگیری مادام العمر </a:t>
            </a:r>
            <a:r>
              <a:rPr lang="fa-IR" sz="3600" dirty="0">
                <a:solidFill>
                  <a:srgbClr val="002060"/>
                </a:solidFill>
                <a:cs typeface="B Mitra" panose="00000400000000000000" pitchFamily="2" charset="-78"/>
              </a:rPr>
              <a:t>که شروع آن تحصیل در دانشکده پزشکی است</a:t>
            </a:r>
            <a:endParaRPr lang="en-US" sz="3600" dirty="0">
              <a:solidFill>
                <a:srgbClr val="002060"/>
              </a:solidFill>
              <a:cs typeface="B Mitra" panose="00000400000000000000" pitchFamily="2" charset="-78"/>
            </a:endParaRPr>
          </a:p>
        </p:txBody>
      </p:sp>
    </p:spTree>
    <p:extLst>
      <p:ext uri="{BB962C8B-B14F-4D97-AF65-F5344CB8AC3E}">
        <p14:creationId xmlns:p14="http://schemas.microsoft.com/office/powerpoint/2010/main" val="2088728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FC801-00E2-42BA-90D0-46461BAA99BB}"/>
              </a:ext>
            </a:extLst>
          </p:cNvPr>
          <p:cNvSpPr>
            <a:spLocks noGrp="1"/>
          </p:cNvSpPr>
          <p:nvPr>
            <p:ph type="title"/>
          </p:nvPr>
        </p:nvSpPr>
        <p:spPr>
          <a:xfrm>
            <a:off x="3599234" y="462388"/>
            <a:ext cx="8800614" cy="1356360"/>
          </a:xfrm>
        </p:spPr>
        <p:txBody>
          <a:bodyPr/>
          <a:lstStyle/>
          <a:p>
            <a:r>
              <a:rPr lang="fa-IR" dirty="0"/>
              <a:t>چطور بفهمیم که چه مطالبی را باید یادبگیریم؟</a:t>
            </a:r>
            <a:endParaRPr lang="en-US" dirty="0"/>
          </a:p>
        </p:txBody>
      </p:sp>
      <p:sp>
        <p:nvSpPr>
          <p:cNvPr id="3" name="Content Placeholder 2">
            <a:extLst>
              <a:ext uri="{FF2B5EF4-FFF2-40B4-BE49-F238E27FC236}">
                <a16:creationId xmlns:a16="http://schemas.microsoft.com/office/drawing/2014/main" id="{AB6520DE-A5BB-4633-9309-936FC059F957}"/>
              </a:ext>
            </a:extLst>
          </p:cNvPr>
          <p:cNvSpPr>
            <a:spLocks noGrp="1"/>
          </p:cNvSpPr>
          <p:nvPr>
            <p:ph idx="1"/>
          </p:nvPr>
        </p:nvSpPr>
        <p:spPr>
          <a:xfrm>
            <a:off x="150801" y="2357012"/>
            <a:ext cx="11678033" cy="4038600"/>
          </a:xfrm>
          <a:solidFill>
            <a:schemeClr val="accent5">
              <a:lumMod val="40000"/>
              <a:lumOff val="60000"/>
            </a:schemeClr>
          </a:solidFill>
        </p:spPr>
        <p:txBody>
          <a:bodyPr>
            <a:noAutofit/>
          </a:bodyPr>
          <a:lstStyle/>
          <a:p>
            <a:pPr marL="45720" indent="0">
              <a:buNone/>
            </a:pPr>
            <a:r>
              <a:rPr lang="fa-IR" sz="3600" dirty="0"/>
              <a:t>با توجه به حجم زیاد مطالب و پایین بودن نیمه عمر مطالب علوم تجربی خصوصا پزشکی،</a:t>
            </a:r>
          </a:p>
          <a:p>
            <a:pPr marL="45720" indent="0">
              <a:buNone/>
            </a:pPr>
            <a:endParaRPr lang="fa-IR" sz="3600" dirty="0"/>
          </a:p>
          <a:p>
            <a:pPr marL="45720" indent="0">
              <a:buNone/>
            </a:pPr>
            <a:r>
              <a:rPr lang="fa-IR" sz="3600" b="1" dirty="0"/>
              <a:t> برنامه درسی دانشگاهیتان (کوریکولوم ) و </a:t>
            </a:r>
            <a:r>
              <a:rPr lang="fa-IR" sz="3600" b="1" dirty="0">
                <a:highlight>
                  <a:srgbClr val="FFFF00"/>
                </a:highlight>
              </a:rPr>
              <a:t>طرح درس/ طرح دوره هر درس  </a:t>
            </a:r>
            <a:r>
              <a:rPr lang="fa-IR" sz="3600" dirty="0"/>
              <a:t>را مطالعه کنید و سرفصلها را برای خودتان یادداشت کنید تلاش کنید در جهت یادگیری آن مطالب گام بردارید </a:t>
            </a:r>
          </a:p>
          <a:p>
            <a:pPr marL="45720" indent="0">
              <a:buNone/>
            </a:pPr>
            <a:r>
              <a:rPr lang="fa-IR" sz="3600" dirty="0"/>
              <a:t>اساتید رفرنس را از قبل مشخص می کنند آن را مطالعه کنید و حتی کاربرد آنها را در پزشکی حدس بزنید و در مورد آن فکر کنید. </a:t>
            </a:r>
          </a:p>
          <a:p>
            <a:pPr marL="45720" indent="0">
              <a:buNone/>
            </a:pPr>
            <a:endParaRPr lang="fa-IR" sz="3600" dirty="0"/>
          </a:p>
          <a:p>
            <a:endParaRPr lang="en-US" sz="3600" dirty="0"/>
          </a:p>
        </p:txBody>
      </p:sp>
      <p:pic>
        <p:nvPicPr>
          <p:cNvPr id="4" name="Content Placeholder 4" descr="Two school students doing a science project">
            <a:extLst>
              <a:ext uri="{FF2B5EF4-FFF2-40B4-BE49-F238E27FC236}">
                <a16:creationId xmlns:a16="http://schemas.microsoft.com/office/drawing/2014/main" id="{151882E1-B76F-446A-8F00-EB3C8495CA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0801" y="0"/>
            <a:ext cx="3249832" cy="2166026"/>
          </a:xfrm>
          <a:prstGeom prst="rect">
            <a:avLst/>
          </a:prstGeom>
        </p:spPr>
      </p:pic>
    </p:spTree>
    <p:extLst>
      <p:ext uri="{BB962C8B-B14F-4D97-AF65-F5344CB8AC3E}">
        <p14:creationId xmlns:p14="http://schemas.microsoft.com/office/powerpoint/2010/main" val="3942517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bg/>
                                          </p:spTgt>
                                        </p:tgtEl>
                                        <p:attrNameLst>
                                          <p:attrName>style.visibility</p:attrName>
                                        </p:attrNameLst>
                                      </p:cBhvr>
                                      <p:to>
                                        <p:strVal val="visible"/>
                                      </p:to>
                                    </p:set>
                                    <p:anim calcmode="lin" valueType="num">
                                      <p:cBhvr additive="base">
                                        <p:cTn id="13" dur="500" fill="hold"/>
                                        <p:tgtEl>
                                          <p:spTgt spid="3">
                                            <p:bg/>
                                          </p:spTgt>
                                        </p:tgtEl>
                                        <p:attrNameLst>
                                          <p:attrName>ppt_x</p:attrName>
                                        </p:attrNameLst>
                                      </p:cBhvr>
                                      <p:tavLst>
                                        <p:tav tm="0">
                                          <p:val>
                                            <p:strVal val="#ppt_x"/>
                                          </p:val>
                                        </p:tav>
                                        <p:tav tm="100000">
                                          <p:val>
                                            <p:strVal val="#ppt_x"/>
                                          </p:val>
                                        </p:tav>
                                      </p:tavLst>
                                    </p:anim>
                                    <p:anim calcmode="lin" valueType="num">
                                      <p:cBhvr additive="base">
                                        <p:cTn id="14"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040C6-1CDD-4223-80A1-BAA130E353CB}"/>
              </a:ext>
            </a:extLst>
          </p:cNvPr>
          <p:cNvSpPr>
            <a:spLocks noGrp="1"/>
          </p:cNvSpPr>
          <p:nvPr>
            <p:ph type="title"/>
          </p:nvPr>
        </p:nvSpPr>
        <p:spPr>
          <a:xfrm>
            <a:off x="2641059" y="609600"/>
            <a:ext cx="9875520" cy="1356360"/>
          </a:xfrm>
        </p:spPr>
        <p:txBody>
          <a:bodyPr/>
          <a:lstStyle/>
          <a:p>
            <a:r>
              <a:rPr lang="fa-IR" dirty="0"/>
              <a:t>تکنیکهای یادگیری در دانشکده پزشکی </a:t>
            </a:r>
            <a:endParaRPr lang="en-US" dirty="0"/>
          </a:p>
        </p:txBody>
      </p:sp>
      <p:pic>
        <p:nvPicPr>
          <p:cNvPr id="4" name="Content Placeholder 4" descr="Two school students doing a science project">
            <a:extLst>
              <a:ext uri="{FF2B5EF4-FFF2-40B4-BE49-F238E27FC236}">
                <a16:creationId xmlns:a16="http://schemas.microsoft.com/office/drawing/2014/main" id="{6326D21C-C637-4CFA-8CC9-56A67A7908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627" y="-90791"/>
            <a:ext cx="2955498" cy="1969851"/>
          </a:xfrm>
          <a:prstGeom prst="rect">
            <a:avLst/>
          </a:prstGeom>
        </p:spPr>
      </p:pic>
      <p:sp>
        <p:nvSpPr>
          <p:cNvPr id="6" name="Content Placeholder 5">
            <a:extLst>
              <a:ext uri="{FF2B5EF4-FFF2-40B4-BE49-F238E27FC236}">
                <a16:creationId xmlns:a16="http://schemas.microsoft.com/office/drawing/2014/main" id="{8C85B1BF-870A-45FD-83D4-6B74510C299E}"/>
              </a:ext>
            </a:extLst>
          </p:cNvPr>
          <p:cNvSpPr>
            <a:spLocks noGrp="1"/>
          </p:cNvSpPr>
          <p:nvPr>
            <p:ph idx="1"/>
          </p:nvPr>
        </p:nvSpPr>
        <p:spPr>
          <a:xfrm>
            <a:off x="87627" y="1841122"/>
            <a:ext cx="11122793" cy="4813678"/>
          </a:xfrm>
        </p:spPr>
        <p:txBody>
          <a:bodyPr>
            <a:normAutofit fontScale="62500" lnSpcReduction="20000"/>
          </a:bodyPr>
          <a:lstStyle/>
          <a:p>
            <a:pPr marL="560070" indent="-514350">
              <a:buFont typeface="+mj-lt"/>
              <a:buAutoNum type="arabicPeriod"/>
            </a:pPr>
            <a:r>
              <a:rPr lang="en-US" dirty="0"/>
              <a:t>Self Directed Learning </a:t>
            </a:r>
            <a:r>
              <a:rPr lang="fa-IR" dirty="0"/>
              <a:t> در مقابل </a:t>
            </a:r>
            <a:r>
              <a:rPr lang="en-US" dirty="0"/>
              <a:t>Teacher Directed Learning</a:t>
            </a:r>
          </a:p>
          <a:p>
            <a:pPr marL="560070" indent="-514350">
              <a:buFont typeface="+mj-lt"/>
              <a:buAutoNum type="arabicPeriod"/>
            </a:pPr>
            <a:r>
              <a:rPr lang="en-US" dirty="0"/>
              <a:t>binge learning</a:t>
            </a:r>
            <a:r>
              <a:rPr lang="fa-IR" dirty="0"/>
              <a:t> یا حجم زیادی از مطالب در مقابل  </a:t>
            </a:r>
            <a:r>
              <a:rPr lang="en-US" dirty="0"/>
              <a:t>regular learning</a:t>
            </a:r>
            <a:r>
              <a:rPr lang="fa-IR" dirty="0"/>
              <a:t> </a:t>
            </a:r>
          </a:p>
          <a:p>
            <a:pPr marL="560070" indent="-514350">
              <a:buFont typeface="+mj-lt"/>
              <a:buAutoNum type="arabicPeriod"/>
            </a:pPr>
            <a:r>
              <a:rPr lang="en-US" dirty="0"/>
              <a:t>Life Long Learning</a:t>
            </a:r>
            <a:r>
              <a:rPr lang="fa-IR" dirty="0"/>
              <a:t> (یادگیری مادام العمر) و </a:t>
            </a:r>
            <a:r>
              <a:rPr lang="en-US" dirty="0"/>
              <a:t>Continuing professional development </a:t>
            </a:r>
            <a:r>
              <a:rPr lang="fa-IR" dirty="0"/>
              <a:t> یا رشد و توسعه حرفه ای مداوم</a:t>
            </a:r>
          </a:p>
          <a:p>
            <a:pPr marL="560070" indent="-514350">
              <a:buFont typeface="+mj-lt"/>
              <a:buAutoNum type="arabicPeriod"/>
            </a:pPr>
            <a:r>
              <a:rPr lang="fa-IR" dirty="0"/>
              <a:t>مطالعه عمیق در مقابل به خاطرسپاری حجم زیادی از اطلاعات</a:t>
            </a:r>
          </a:p>
          <a:p>
            <a:pPr marL="560070" indent="-514350">
              <a:buFont typeface="+mj-lt"/>
              <a:buAutoNum type="arabicPeriod"/>
            </a:pPr>
            <a:r>
              <a:rPr lang="fa-IR" dirty="0"/>
              <a:t>به کارگیری هر دو لوب مغز در هنگام یادگیری</a:t>
            </a:r>
          </a:p>
          <a:p>
            <a:pPr marL="560070" indent="-514350">
              <a:buFont typeface="+mj-lt"/>
              <a:buAutoNum type="arabicPeriod"/>
            </a:pPr>
            <a:r>
              <a:rPr lang="fa-IR" dirty="0"/>
              <a:t>استفاده از مدل تزریق حافظه</a:t>
            </a:r>
          </a:p>
          <a:p>
            <a:pPr marL="560070" indent="-514350">
              <a:buFont typeface="+mj-lt"/>
              <a:buAutoNum type="arabicPeriod"/>
            </a:pPr>
            <a:r>
              <a:rPr lang="fa-IR" dirty="0"/>
              <a:t>شبکه های معنایی</a:t>
            </a:r>
          </a:p>
          <a:p>
            <a:pPr marL="560070" indent="-514350">
              <a:buFont typeface="+mj-lt"/>
              <a:buAutoNum type="arabicPeriod"/>
            </a:pPr>
            <a:r>
              <a:rPr lang="fa-IR" dirty="0"/>
              <a:t>یادگیری فعال</a:t>
            </a:r>
          </a:p>
          <a:p>
            <a:pPr marL="560070" indent="-514350">
              <a:buFont typeface="+mj-lt"/>
              <a:buAutoNum type="arabicPeriod"/>
            </a:pPr>
            <a:r>
              <a:rPr lang="fa-IR" dirty="0"/>
              <a:t>نقشه های مفهومی</a:t>
            </a:r>
          </a:p>
          <a:p>
            <a:pPr marL="560070" indent="-514350">
              <a:buFont typeface="+mj-lt"/>
              <a:buAutoNum type="arabicPeriod"/>
            </a:pPr>
            <a:r>
              <a:rPr lang="fa-IR" dirty="0"/>
              <a:t>فلش کارت ها</a:t>
            </a:r>
          </a:p>
          <a:p>
            <a:pPr marL="560070" indent="-514350">
              <a:buFont typeface="+mj-lt"/>
              <a:buAutoNum type="arabicPeriod"/>
            </a:pPr>
            <a:r>
              <a:rPr lang="fa-IR" dirty="0"/>
              <a:t>جداول</a:t>
            </a:r>
          </a:p>
          <a:p>
            <a:pPr marL="560070" indent="-514350">
              <a:buFont typeface="+mj-lt"/>
              <a:buAutoNum type="arabicPeriod"/>
            </a:pPr>
            <a:r>
              <a:rPr lang="fa-IR" dirty="0"/>
              <a:t>یادگیری گروهی و مشارکتی</a:t>
            </a:r>
          </a:p>
          <a:p>
            <a:pPr marL="560070" indent="-514350">
              <a:buFont typeface="+mj-lt"/>
              <a:buAutoNum type="arabicPeriod"/>
            </a:pPr>
            <a:endParaRPr lang="fa-IR" dirty="0"/>
          </a:p>
          <a:p>
            <a:pPr marL="560070" indent="-514350">
              <a:buFont typeface="+mj-lt"/>
              <a:buAutoNum type="arabicPeriod"/>
            </a:pPr>
            <a:endParaRPr lang="en-US" dirty="0"/>
          </a:p>
          <a:p>
            <a:endParaRPr lang="en-US" dirty="0"/>
          </a:p>
          <a:p>
            <a:endParaRPr lang="en-US" dirty="0"/>
          </a:p>
        </p:txBody>
      </p:sp>
    </p:spTree>
    <p:extLst>
      <p:ext uri="{BB962C8B-B14F-4D97-AF65-F5344CB8AC3E}">
        <p14:creationId xmlns:p14="http://schemas.microsoft.com/office/powerpoint/2010/main" val="2033318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4FA83-B22E-4F59-A264-393318360F41}"/>
              </a:ext>
            </a:extLst>
          </p:cNvPr>
          <p:cNvSpPr>
            <a:spLocks noGrp="1"/>
          </p:cNvSpPr>
          <p:nvPr>
            <p:ph type="title"/>
          </p:nvPr>
        </p:nvSpPr>
        <p:spPr/>
        <p:txBody>
          <a:bodyPr>
            <a:normAutofit/>
          </a:bodyPr>
          <a:lstStyle/>
          <a:p>
            <a:r>
              <a:rPr lang="en-US" dirty="0"/>
              <a:t>Self Directed Learning </a:t>
            </a:r>
            <a:r>
              <a:rPr lang="fa-IR" dirty="0"/>
              <a:t> در مقابل </a:t>
            </a:r>
            <a:r>
              <a:rPr lang="en-US" dirty="0"/>
              <a:t>Teacher Directed Learning</a:t>
            </a:r>
          </a:p>
        </p:txBody>
      </p:sp>
      <p:sp>
        <p:nvSpPr>
          <p:cNvPr id="3" name="Content Placeholder 2">
            <a:extLst>
              <a:ext uri="{FF2B5EF4-FFF2-40B4-BE49-F238E27FC236}">
                <a16:creationId xmlns:a16="http://schemas.microsoft.com/office/drawing/2014/main" id="{893844C9-407B-46A5-AF27-DA3142283E10}"/>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354393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702D2-031B-4828-9D46-7F8F4B502AD5}"/>
              </a:ext>
            </a:extLst>
          </p:cNvPr>
          <p:cNvSpPr>
            <a:spLocks noGrp="1"/>
          </p:cNvSpPr>
          <p:nvPr>
            <p:ph type="title"/>
          </p:nvPr>
        </p:nvSpPr>
        <p:spPr/>
        <p:txBody>
          <a:bodyPr>
            <a:normAutofit/>
          </a:bodyPr>
          <a:lstStyle/>
          <a:p>
            <a:r>
              <a:rPr lang="fa-IR" dirty="0"/>
              <a:t> حجم زیادی از مطالب در مقابل یادگیری منظم</a:t>
            </a:r>
            <a:endParaRPr lang="en-US" dirty="0"/>
          </a:p>
        </p:txBody>
      </p:sp>
      <p:sp>
        <p:nvSpPr>
          <p:cNvPr id="3" name="Content Placeholder 2">
            <a:extLst>
              <a:ext uri="{FF2B5EF4-FFF2-40B4-BE49-F238E27FC236}">
                <a16:creationId xmlns:a16="http://schemas.microsoft.com/office/drawing/2014/main" id="{F61592AE-86D9-4B27-906A-FB45A2A93F02}"/>
              </a:ext>
            </a:extLst>
          </p:cNvPr>
          <p:cNvSpPr>
            <a:spLocks noGrp="1"/>
          </p:cNvSpPr>
          <p:nvPr>
            <p:ph idx="1"/>
          </p:nvPr>
        </p:nvSpPr>
        <p:spPr>
          <a:xfrm>
            <a:off x="1142996" y="2057400"/>
            <a:ext cx="9872871" cy="4533900"/>
          </a:xfrm>
        </p:spPr>
        <p:txBody>
          <a:bodyPr>
            <a:normAutofit lnSpcReduction="10000"/>
          </a:bodyPr>
          <a:lstStyle/>
          <a:p>
            <a:r>
              <a:rPr lang="fa-IR" dirty="0"/>
              <a:t>نیاز به عادت به مطالعه منظم</a:t>
            </a:r>
          </a:p>
          <a:p>
            <a:r>
              <a:rPr lang="fa-IR" dirty="0"/>
              <a:t>تعادل بین زندگی و مطالعه</a:t>
            </a:r>
          </a:p>
          <a:p>
            <a:r>
              <a:rPr lang="fa-IR" u="sng" dirty="0"/>
              <a:t>حافظه عالیتان کافی نیست چون:</a:t>
            </a:r>
          </a:p>
          <a:p>
            <a:pPr lvl="1"/>
            <a:r>
              <a:rPr lang="fa-IR" dirty="0">
                <a:solidFill>
                  <a:schemeClr val="accent4">
                    <a:lumMod val="50000"/>
                  </a:schemeClr>
                </a:solidFill>
              </a:rPr>
              <a:t>حجم مطالب بیش از تصور شماست</a:t>
            </a:r>
          </a:p>
          <a:p>
            <a:pPr lvl="1"/>
            <a:r>
              <a:rPr lang="fa-IR" dirty="0">
                <a:solidFill>
                  <a:schemeClr val="accent4">
                    <a:lumMod val="50000"/>
                  </a:schemeClr>
                </a:solidFill>
              </a:rPr>
              <a:t>در رشته پزشکی باید از دانسته های خود استفاده کاربردی نمایید نه مدام سطح دانسته های خود را بالا ببرید</a:t>
            </a:r>
          </a:p>
          <a:p>
            <a:pPr lvl="1"/>
            <a:r>
              <a:rPr lang="fa-IR" dirty="0">
                <a:solidFill>
                  <a:schemeClr val="accent4">
                    <a:lumMod val="50000"/>
                  </a:schemeClr>
                </a:solidFill>
              </a:rPr>
              <a:t>محتواها برای سالیان سال مورد نیازتان میباشد تا یک پزشک موفق شوید</a:t>
            </a:r>
          </a:p>
          <a:p>
            <a:r>
              <a:rPr lang="fa-IR" dirty="0">
                <a:solidFill>
                  <a:srgbClr val="C00000"/>
                </a:solidFill>
              </a:rPr>
              <a:t>نیاز به عادت به مطالعه منظم بر اساس یک جدول زمانی و روزانه (مطالب جدید و مرور مطالب قبلی)</a:t>
            </a:r>
          </a:p>
          <a:p>
            <a:endParaRPr lang="fa-IR" dirty="0"/>
          </a:p>
          <a:p>
            <a:pPr lvl="1"/>
            <a:endParaRPr lang="fa-IR" dirty="0"/>
          </a:p>
          <a:p>
            <a:pPr marL="45720" indent="0">
              <a:buNone/>
            </a:pPr>
            <a:endParaRPr lang="en-US" dirty="0"/>
          </a:p>
        </p:txBody>
      </p:sp>
    </p:spTree>
    <p:extLst>
      <p:ext uri="{BB962C8B-B14F-4D97-AF65-F5344CB8AC3E}">
        <p14:creationId xmlns:p14="http://schemas.microsoft.com/office/powerpoint/2010/main" val="2788009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156A5-3CF6-4733-9FC3-582649E74E49}"/>
              </a:ext>
            </a:extLst>
          </p:cNvPr>
          <p:cNvSpPr>
            <a:spLocks noGrp="1"/>
          </p:cNvSpPr>
          <p:nvPr>
            <p:ph type="title"/>
          </p:nvPr>
        </p:nvSpPr>
        <p:spPr/>
        <p:txBody>
          <a:bodyPr>
            <a:normAutofit/>
          </a:bodyPr>
          <a:lstStyle/>
          <a:p>
            <a:r>
              <a:rPr lang="fa-IR" dirty="0"/>
              <a:t>(یادگیری مادام العمر) و رشد و توسعه حرفه ای</a:t>
            </a:r>
            <a:br>
              <a:rPr lang="fa-IR" dirty="0"/>
            </a:br>
            <a:endParaRPr lang="en-US" dirty="0"/>
          </a:p>
        </p:txBody>
      </p:sp>
      <p:sp>
        <p:nvSpPr>
          <p:cNvPr id="3" name="Content Placeholder 2">
            <a:extLst>
              <a:ext uri="{FF2B5EF4-FFF2-40B4-BE49-F238E27FC236}">
                <a16:creationId xmlns:a16="http://schemas.microsoft.com/office/drawing/2014/main" id="{44C0A484-A30C-4FDB-8BC0-9BDB38853457}"/>
              </a:ext>
            </a:extLst>
          </p:cNvPr>
          <p:cNvSpPr>
            <a:spLocks noGrp="1"/>
          </p:cNvSpPr>
          <p:nvPr>
            <p:ph idx="1"/>
          </p:nvPr>
        </p:nvSpPr>
        <p:spPr/>
        <p:txBody>
          <a:bodyPr>
            <a:normAutofit lnSpcReduction="10000"/>
          </a:bodyPr>
          <a:lstStyle/>
          <a:p>
            <a:r>
              <a:rPr lang="fa-IR" dirty="0"/>
              <a:t>نیاز یک پزشک به یادگیری مداوم در تمام دوران زندگی حرفه ای تان</a:t>
            </a:r>
          </a:p>
          <a:p>
            <a:r>
              <a:rPr lang="fa-IR" dirty="0"/>
              <a:t>هیچکس به شما نمی گوید به چه آموزشهایی نیاز دارید</a:t>
            </a:r>
          </a:p>
          <a:p>
            <a:r>
              <a:rPr lang="fa-IR" dirty="0"/>
              <a:t>آنچه که باید بدانید، آنچه که نمیدانید، اولویتهای یادگیریتان و حتی روش یادگیری آنها را خودتان باید تشخیص دهید</a:t>
            </a:r>
          </a:p>
          <a:p>
            <a:r>
              <a:rPr lang="fa-IR" dirty="0"/>
              <a:t>گاهی برنامه درسی و برنامه های آموزشی اساتیدتان کمک کننده است </a:t>
            </a:r>
            <a:r>
              <a:rPr lang="fa-IR" dirty="0">
                <a:solidFill>
                  <a:srgbClr val="002060"/>
                </a:solidFill>
              </a:rPr>
              <a:t>ولی خودتان باید به این نتیجه برسید که کدام یک برای رفع نیازهای شما مفیدتر است.</a:t>
            </a:r>
          </a:p>
          <a:p>
            <a:r>
              <a:rPr lang="fa-IR" dirty="0">
                <a:solidFill>
                  <a:srgbClr val="C00000"/>
                </a:solidFill>
              </a:rPr>
              <a:t>باید یادبگیرید که چگونه فرایندهای یادگیریتان را اداره نمایید و اطلاعاتتان را به روز نگهدارید</a:t>
            </a:r>
            <a:endParaRPr lang="en-US" dirty="0">
              <a:solidFill>
                <a:srgbClr val="C00000"/>
              </a:solidFill>
            </a:endParaRPr>
          </a:p>
        </p:txBody>
      </p:sp>
    </p:spTree>
    <p:extLst>
      <p:ext uri="{BB962C8B-B14F-4D97-AF65-F5344CB8AC3E}">
        <p14:creationId xmlns:p14="http://schemas.microsoft.com/office/powerpoint/2010/main" val="3370630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3C460-EBE5-4C20-869C-63A359753CB8}"/>
              </a:ext>
            </a:extLst>
          </p:cNvPr>
          <p:cNvSpPr>
            <a:spLocks noGrp="1"/>
          </p:cNvSpPr>
          <p:nvPr>
            <p:ph type="title"/>
          </p:nvPr>
        </p:nvSpPr>
        <p:spPr/>
        <p:txBody>
          <a:bodyPr>
            <a:normAutofit/>
          </a:bodyPr>
          <a:lstStyle/>
          <a:p>
            <a:r>
              <a:rPr lang="fa-IR" dirty="0"/>
              <a:t>مطالعه عمیق در مقابل به خاطرسپاری حجم زیادی از اطلاعات</a:t>
            </a:r>
            <a:endParaRPr lang="en-US" dirty="0"/>
          </a:p>
        </p:txBody>
      </p:sp>
      <p:sp>
        <p:nvSpPr>
          <p:cNvPr id="3" name="Content Placeholder 2">
            <a:extLst>
              <a:ext uri="{FF2B5EF4-FFF2-40B4-BE49-F238E27FC236}">
                <a16:creationId xmlns:a16="http://schemas.microsoft.com/office/drawing/2014/main" id="{CBBDAE44-82C4-4116-856F-82E415A202B4}"/>
              </a:ext>
            </a:extLst>
          </p:cNvPr>
          <p:cNvSpPr>
            <a:spLocks noGrp="1"/>
          </p:cNvSpPr>
          <p:nvPr>
            <p:ph idx="1"/>
          </p:nvPr>
        </p:nvSpPr>
        <p:spPr/>
        <p:txBody>
          <a:bodyPr/>
          <a:lstStyle/>
          <a:p>
            <a:r>
              <a:rPr lang="fa-IR" dirty="0"/>
              <a:t> آیا زمان به شما این اجازه را می دهد همه مطالب را عمیق مطالعه کنید؟</a:t>
            </a:r>
          </a:p>
          <a:p>
            <a:endParaRPr lang="fa-IR" dirty="0"/>
          </a:p>
          <a:p>
            <a:r>
              <a:rPr lang="fa-IR" dirty="0"/>
              <a:t>مثلا در یک زمان محدود به نظر شما آیا بیماریهای  نادر را عمیق بخوانیم یا مطالب بیشتر را از بیماریهای مختلف رایج بخوانیم ؟</a:t>
            </a:r>
          </a:p>
          <a:p>
            <a:pPr marL="45720" indent="0">
              <a:buNone/>
            </a:pPr>
            <a:r>
              <a:rPr lang="fa-IR" dirty="0"/>
              <a:t>عمق مطالعه مان ؟</a:t>
            </a:r>
          </a:p>
          <a:p>
            <a:pPr marL="45720" indent="0">
              <a:buNone/>
            </a:pPr>
            <a:r>
              <a:rPr lang="fa-IR" dirty="0"/>
              <a:t>گستردگی مطالعه مان؟</a:t>
            </a:r>
            <a:endParaRPr lang="en-US" dirty="0"/>
          </a:p>
        </p:txBody>
      </p:sp>
    </p:spTree>
    <p:extLst>
      <p:ext uri="{BB962C8B-B14F-4D97-AF65-F5344CB8AC3E}">
        <p14:creationId xmlns:p14="http://schemas.microsoft.com/office/powerpoint/2010/main" val="3492244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3B4BD-499F-4057-82F6-39F05783C676}"/>
              </a:ext>
            </a:extLst>
          </p:cNvPr>
          <p:cNvSpPr>
            <a:spLocks noGrp="1"/>
          </p:cNvSpPr>
          <p:nvPr>
            <p:ph type="title"/>
          </p:nvPr>
        </p:nvSpPr>
        <p:spPr>
          <a:xfrm>
            <a:off x="7848600" y="0"/>
            <a:ext cx="3055620" cy="2641600"/>
          </a:xfrm>
        </p:spPr>
        <p:txBody>
          <a:bodyPr>
            <a:normAutofit/>
          </a:bodyPr>
          <a:lstStyle/>
          <a:p>
            <a:r>
              <a:rPr lang="fa-IR" dirty="0"/>
              <a:t>تاکسونومی بلوم: سطوح مختلف دانش</a:t>
            </a:r>
            <a:endParaRPr lang="en-US" dirty="0"/>
          </a:p>
        </p:txBody>
      </p:sp>
      <p:pic>
        <p:nvPicPr>
          <p:cNvPr id="5" name="Picture 4">
            <a:extLst>
              <a:ext uri="{FF2B5EF4-FFF2-40B4-BE49-F238E27FC236}">
                <a16:creationId xmlns:a16="http://schemas.microsoft.com/office/drawing/2014/main" id="{225E6A84-5314-45E6-B279-08D9EECEE415}"/>
              </a:ext>
            </a:extLst>
          </p:cNvPr>
          <p:cNvPicPr>
            <a:picLocks noChangeAspect="1"/>
          </p:cNvPicPr>
          <p:nvPr/>
        </p:nvPicPr>
        <p:blipFill>
          <a:blip r:embed="rId2"/>
          <a:stretch>
            <a:fillRect/>
          </a:stretch>
        </p:blipFill>
        <p:spPr>
          <a:xfrm>
            <a:off x="1176133" y="247650"/>
            <a:ext cx="6419850" cy="6362700"/>
          </a:xfrm>
          <a:prstGeom prst="rect">
            <a:avLst/>
          </a:prstGeom>
        </p:spPr>
      </p:pic>
      <p:pic>
        <p:nvPicPr>
          <p:cNvPr id="6" name="Picture 5" descr="نحوه طراحی محتوای آموزشی - ppt download">
            <a:extLst>
              <a:ext uri="{FF2B5EF4-FFF2-40B4-BE49-F238E27FC236}">
                <a16:creationId xmlns:a16="http://schemas.microsoft.com/office/drawing/2014/main" id="{5C27FE5D-B76C-46BE-AF6B-2B2F0803B3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2529" y="2877468"/>
            <a:ext cx="4050372" cy="3612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1482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CFC9B-217E-46C6-8D68-0CE0088844B1}"/>
              </a:ext>
            </a:extLst>
          </p:cNvPr>
          <p:cNvSpPr>
            <a:spLocks noGrp="1"/>
          </p:cNvSpPr>
          <p:nvPr>
            <p:ph type="title"/>
          </p:nvPr>
        </p:nvSpPr>
        <p:spPr/>
        <p:txBody>
          <a:bodyPr>
            <a:normAutofit/>
          </a:bodyPr>
          <a:lstStyle/>
          <a:p>
            <a:r>
              <a:rPr lang="fa-IR" dirty="0"/>
              <a:t>به کارگیری هر دو لوب مغز در هنگام یادگیری</a:t>
            </a:r>
            <a:endParaRPr lang="en-US" dirty="0"/>
          </a:p>
        </p:txBody>
      </p:sp>
      <p:sp>
        <p:nvSpPr>
          <p:cNvPr id="3" name="Content Placeholder 2">
            <a:extLst>
              <a:ext uri="{FF2B5EF4-FFF2-40B4-BE49-F238E27FC236}">
                <a16:creationId xmlns:a16="http://schemas.microsoft.com/office/drawing/2014/main" id="{D1194023-7B0F-4AA5-B4CD-4047A53DD4AE}"/>
              </a:ext>
            </a:extLst>
          </p:cNvPr>
          <p:cNvSpPr>
            <a:spLocks noGrp="1"/>
          </p:cNvSpPr>
          <p:nvPr>
            <p:ph idx="1"/>
          </p:nvPr>
        </p:nvSpPr>
        <p:spPr/>
        <p:txBody>
          <a:bodyPr>
            <a:normAutofit lnSpcReduction="10000"/>
          </a:bodyPr>
          <a:lstStyle/>
          <a:p>
            <a:r>
              <a:rPr lang="fa-IR" dirty="0"/>
              <a:t>لوب سمت چپ مغز: فرایندهایی از جمله منطق، حقایق و به یادآوری مطالب است</a:t>
            </a:r>
          </a:p>
          <a:p>
            <a:endParaRPr lang="fa-IR" dirty="0"/>
          </a:p>
          <a:p>
            <a:r>
              <a:rPr lang="fa-IR" dirty="0"/>
              <a:t>لوب سمت راست مغز: مرتبط با احساسات، عواطف و تصورات فردیتان است</a:t>
            </a:r>
            <a:endParaRPr lang="en-US" dirty="0"/>
          </a:p>
          <a:p>
            <a:endParaRPr lang="en-US" dirty="0"/>
          </a:p>
          <a:p>
            <a:r>
              <a:rPr lang="fa-IR" dirty="0"/>
              <a:t>صرف زمان کمتر برای یادگیری بهتر و به خاطر سپاری بیشتر، باید از هر دو نیمکره استفاده نماییم.</a:t>
            </a:r>
          </a:p>
          <a:p>
            <a:r>
              <a:rPr lang="fa-IR" dirty="0"/>
              <a:t>مثال؟ </a:t>
            </a:r>
            <a:endParaRPr lang="en-US" dirty="0"/>
          </a:p>
        </p:txBody>
      </p:sp>
    </p:spTree>
    <p:extLst>
      <p:ext uri="{BB962C8B-B14F-4D97-AF65-F5344CB8AC3E}">
        <p14:creationId xmlns:p14="http://schemas.microsoft.com/office/powerpoint/2010/main" val="4433694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66F82-5C86-497E-908C-9B7245EA7E17}"/>
              </a:ext>
            </a:extLst>
          </p:cNvPr>
          <p:cNvSpPr>
            <a:spLocks noGrp="1"/>
          </p:cNvSpPr>
          <p:nvPr>
            <p:ph type="title"/>
          </p:nvPr>
        </p:nvSpPr>
        <p:spPr/>
        <p:txBody>
          <a:bodyPr/>
          <a:lstStyle/>
          <a:p>
            <a:r>
              <a:rPr lang="fa-IR" dirty="0"/>
              <a:t>استفاده از مدل تزریق حافظه</a:t>
            </a:r>
            <a:endParaRPr lang="en-US" dirty="0"/>
          </a:p>
        </p:txBody>
      </p:sp>
      <p:sp>
        <p:nvSpPr>
          <p:cNvPr id="3" name="Content Placeholder 2">
            <a:extLst>
              <a:ext uri="{FF2B5EF4-FFF2-40B4-BE49-F238E27FC236}">
                <a16:creationId xmlns:a16="http://schemas.microsoft.com/office/drawing/2014/main" id="{80B07516-A107-482F-8DBE-F063ADDD9887}"/>
              </a:ext>
            </a:extLst>
          </p:cNvPr>
          <p:cNvSpPr>
            <a:spLocks noGrp="1"/>
          </p:cNvSpPr>
          <p:nvPr>
            <p:ph idx="1"/>
          </p:nvPr>
        </p:nvSpPr>
        <p:spPr/>
        <p:txBody>
          <a:bodyPr>
            <a:normAutofit fontScale="92500" lnSpcReduction="10000"/>
          </a:bodyPr>
          <a:lstStyle/>
          <a:p>
            <a:r>
              <a:rPr lang="fa-IR" dirty="0"/>
              <a:t>واکسیناسیون هپاتیت </a:t>
            </a:r>
            <a:r>
              <a:rPr lang="en-US" dirty="0"/>
              <a:t>B</a:t>
            </a:r>
            <a:r>
              <a:rPr lang="fa-IR" dirty="0"/>
              <a:t> در سه نوبت برای تقویت و تداوم سیستم ایمنی بدن شما</a:t>
            </a:r>
          </a:p>
          <a:p>
            <a:pPr lvl="1"/>
            <a:r>
              <a:rPr lang="fa-IR" dirty="0"/>
              <a:t>نوبت اول ایمنی ضعیف و آنتی بادی کمی بالا می رود</a:t>
            </a:r>
          </a:p>
          <a:p>
            <a:pPr lvl="1"/>
            <a:r>
              <a:rPr lang="fa-IR" dirty="0"/>
              <a:t>نوبت دوم حافظۀ سیستم ایمنی کمک می کند تا زودتر و بیشتر آنتی بادی ترشح شود </a:t>
            </a:r>
          </a:p>
          <a:p>
            <a:pPr lvl="1"/>
            <a:r>
              <a:rPr lang="fa-IR" dirty="0"/>
              <a:t>نوبت سوم حافظۀ سیستم ایمنی شما سریعتر و عملکرد آن بهتر از دفعات قبل خواهد بود. </a:t>
            </a:r>
          </a:p>
          <a:p>
            <a:r>
              <a:rPr lang="fa-IR" dirty="0"/>
              <a:t>عامل زمان هم تاثیرگذار است یعنی اگر بعد از 5 سال تزریق می کردیم این نتیجه را نمیداد</a:t>
            </a:r>
          </a:p>
          <a:p>
            <a:endParaRPr lang="fa-IR" dirty="0"/>
          </a:p>
          <a:p>
            <a:r>
              <a:rPr lang="fa-IR" dirty="0">
                <a:solidFill>
                  <a:srgbClr val="C00000"/>
                </a:solidFill>
              </a:rPr>
              <a:t>برای حافظه شما هم همین  قانون به نام </a:t>
            </a:r>
            <a:r>
              <a:rPr lang="fa-IR" b="1" dirty="0">
                <a:solidFill>
                  <a:srgbClr val="C00000"/>
                </a:solidFill>
              </a:rPr>
              <a:t>قانون سه تایی ها </a:t>
            </a:r>
            <a:r>
              <a:rPr lang="fa-IR" dirty="0">
                <a:solidFill>
                  <a:srgbClr val="C00000"/>
                </a:solidFill>
              </a:rPr>
              <a:t>وجود دارد. </a:t>
            </a:r>
          </a:p>
          <a:p>
            <a:pPr lvl="1"/>
            <a:r>
              <a:rPr lang="fa-IR" dirty="0">
                <a:highlight>
                  <a:srgbClr val="FFFF00"/>
                </a:highlight>
              </a:rPr>
              <a:t>سومین روز، سومین هفته و سومین ماه</a:t>
            </a:r>
          </a:p>
        </p:txBody>
      </p:sp>
    </p:spTree>
    <p:extLst>
      <p:ext uri="{BB962C8B-B14F-4D97-AF65-F5344CB8AC3E}">
        <p14:creationId xmlns:p14="http://schemas.microsoft.com/office/powerpoint/2010/main" val="29928252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1F79A-D0AD-4AF5-B27B-50A335B1FD48}"/>
              </a:ext>
            </a:extLst>
          </p:cNvPr>
          <p:cNvSpPr>
            <a:spLocks noGrp="1"/>
          </p:cNvSpPr>
          <p:nvPr>
            <p:ph type="title"/>
          </p:nvPr>
        </p:nvSpPr>
        <p:spPr/>
        <p:txBody>
          <a:bodyPr/>
          <a:lstStyle/>
          <a:p>
            <a:r>
              <a:rPr lang="fa-IR" dirty="0"/>
              <a:t>شبکه های معنایی</a:t>
            </a:r>
            <a:endParaRPr lang="en-US" dirty="0"/>
          </a:p>
        </p:txBody>
      </p:sp>
      <p:sp>
        <p:nvSpPr>
          <p:cNvPr id="3" name="Content Placeholder 2">
            <a:extLst>
              <a:ext uri="{FF2B5EF4-FFF2-40B4-BE49-F238E27FC236}">
                <a16:creationId xmlns:a16="http://schemas.microsoft.com/office/drawing/2014/main" id="{ED564381-33CB-4A8B-9A59-6E3CEA5E73F4}"/>
              </a:ext>
            </a:extLst>
          </p:cNvPr>
          <p:cNvSpPr>
            <a:spLocks noGrp="1"/>
          </p:cNvSpPr>
          <p:nvPr>
            <p:ph idx="1"/>
          </p:nvPr>
        </p:nvSpPr>
        <p:spPr>
          <a:xfrm>
            <a:off x="342900" y="2057400"/>
            <a:ext cx="11226800" cy="4495800"/>
          </a:xfrm>
        </p:spPr>
        <p:txBody>
          <a:bodyPr>
            <a:normAutofit lnSpcReduction="10000"/>
          </a:bodyPr>
          <a:lstStyle/>
          <a:p>
            <a:r>
              <a:rPr lang="fa-IR" dirty="0"/>
              <a:t>یکی از مدل های یادگیری حافظه که مطالب در قالب شبکه هایی در ذهن کدگذاری می شود.</a:t>
            </a:r>
          </a:p>
          <a:p>
            <a:endParaRPr lang="fa-IR" dirty="0"/>
          </a:p>
          <a:p>
            <a:r>
              <a:rPr lang="fa-IR" dirty="0"/>
              <a:t>یک موضوع با سایر موضوعات مربوط به دانش لینک پیدا می کند. مثل تار عنکبوت</a:t>
            </a:r>
          </a:p>
          <a:p>
            <a:endParaRPr lang="fa-IR" dirty="0"/>
          </a:p>
          <a:p>
            <a:r>
              <a:rPr lang="fa-IR" dirty="0"/>
              <a:t>در این مدل قدرت حافظه به درجه همبستگی مطالب جدید با مطالب قبلی وابسته است.</a:t>
            </a:r>
          </a:p>
          <a:p>
            <a:endParaRPr lang="fa-IR" dirty="0"/>
          </a:p>
          <a:p>
            <a:r>
              <a:rPr lang="fa-IR" dirty="0"/>
              <a:t>پس سعی کنید مطالبی را که مطالعه می کنید به سایر مطالبی که قبل از این فراگرفته اید مرتبط کنید. هم دانسته قبلی تقویت می شوند و هم به یادگیری مطالب جدید کمک خواهد کرد.</a:t>
            </a:r>
          </a:p>
        </p:txBody>
      </p:sp>
    </p:spTree>
    <p:extLst>
      <p:ext uri="{BB962C8B-B14F-4D97-AF65-F5344CB8AC3E}">
        <p14:creationId xmlns:p14="http://schemas.microsoft.com/office/powerpoint/2010/main" val="2235855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A4A0A-B391-414F-AB9D-385965C56142}"/>
              </a:ext>
            </a:extLst>
          </p:cNvPr>
          <p:cNvSpPr>
            <a:spLocks noGrp="1"/>
          </p:cNvSpPr>
          <p:nvPr>
            <p:ph type="title"/>
          </p:nvPr>
        </p:nvSpPr>
        <p:spPr/>
        <p:txBody>
          <a:bodyPr/>
          <a:lstStyle/>
          <a:p>
            <a:r>
              <a:rPr lang="fa-IR" dirty="0"/>
              <a:t>یادگیری گروهی و مشارکتی</a:t>
            </a:r>
            <a:endParaRPr lang="en-US" dirty="0"/>
          </a:p>
        </p:txBody>
      </p:sp>
      <p:sp>
        <p:nvSpPr>
          <p:cNvPr id="3" name="Content Placeholder 2">
            <a:extLst>
              <a:ext uri="{FF2B5EF4-FFF2-40B4-BE49-F238E27FC236}">
                <a16:creationId xmlns:a16="http://schemas.microsoft.com/office/drawing/2014/main" id="{DEA7FAF9-49D0-4749-990C-521A0797549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48376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C347B-BDF2-408D-BAD6-7E2423C3F175}"/>
              </a:ext>
            </a:extLst>
          </p:cNvPr>
          <p:cNvSpPr>
            <a:spLocks noGrp="1"/>
          </p:cNvSpPr>
          <p:nvPr>
            <p:ph type="title"/>
          </p:nvPr>
        </p:nvSpPr>
        <p:spPr/>
        <p:txBody>
          <a:bodyPr/>
          <a:lstStyle/>
          <a:p>
            <a:r>
              <a:rPr lang="fa-IR" dirty="0"/>
              <a:t>یادگیری فعال</a:t>
            </a:r>
            <a:endParaRPr lang="en-US" dirty="0"/>
          </a:p>
        </p:txBody>
      </p:sp>
      <p:sp>
        <p:nvSpPr>
          <p:cNvPr id="3" name="Content Placeholder 2">
            <a:extLst>
              <a:ext uri="{FF2B5EF4-FFF2-40B4-BE49-F238E27FC236}">
                <a16:creationId xmlns:a16="http://schemas.microsoft.com/office/drawing/2014/main" id="{54EC0B1A-892A-4176-B9A0-8E9C321C2BA0}"/>
              </a:ext>
            </a:extLst>
          </p:cNvPr>
          <p:cNvSpPr>
            <a:spLocks noGrp="1"/>
          </p:cNvSpPr>
          <p:nvPr>
            <p:ph idx="1"/>
          </p:nvPr>
        </p:nvSpPr>
        <p:spPr/>
        <p:txBody>
          <a:bodyPr/>
          <a:lstStyle/>
          <a:p>
            <a:r>
              <a:rPr lang="fa-IR" dirty="0"/>
              <a:t>یادگیری اثربخش یک فرایند فعال است که نیازمند صرف انرژی و تلاش بسیاری است. </a:t>
            </a:r>
          </a:p>
          <a:p>
            <a:r>
              <a:rPr lang="fa-IR" dirty="0"/>
              <a:t>چون حجم مطالب رشته پزشکی بالاست، نیازمندِ به کارگیری دانسته هایتان دارید</a:t>
            </a:r>
          </a:p>
          <a:p>
            <a:endParaRPr lang="fa-IR" dirty="0"/>
          </a:p>
          <a:p>
            <a:r>
              <a:rPr lang="fa-IR" dirty="0"/>
              <a:t>یادگیری فعال دارای مراحل</a:t>
            </a:r>
            <a:r>
              <a:rPr lang="fa-IR" u="sng" dirty="0"/>
              <a:t> </a:t>
            </a:r>
            <a:r>
              <a:rPr lang="fa-IR" u="sng" dirty="0">
                <a:solidFill>
                  <a:srgbClr val="C00000"/>
                </a:solidFill>
              </a:rPr>
              <a:t>قبل</a:t>
            </a:r>
            <a:r>
              <a:rPr lang="fa-IR" dirty="0"/>
              <a:t>، </a:t>
            </a:r>
            <a:r>
              <a:rPr lang="fa-IR" u="sng" dirty="0">
                <a:solidFill>
                  <a:srgbClr val="C00000"/>
                </a:solidFill>
              </a:rPr>
              <a:t>در طول </a:t>
            </a:r>
            <a:r>
              <a:rPr lang="fa-IR" dirty="0"/>
              <a:t>و </a:t>
            </a:r>
            <a:r>
              <a:rPr lang="fa-IR" u="sng" dirty="0">
                <a:solidFill>
                  <a:srgbClr val="C00000"/>
                </a:solidFill>
              </a:rPr>
              <a:t>بعد از یادگیری </a:t>
            </a:r>
            <a:r>
              <a:rPr lang="fa-IR" dirty="0"/>
              <a:t>است. </a:t>
            </a:r>
          </a:p>
          <a:p>
            <a:r>
              <a:rPr lang="fa-IR" dirty="0"/>
              <a:t>یکی از رایجترین روشهای یادگیری فعال </a:t>
            </a:r>
            <a:r>
              <a:rPr lang="fa-IR" dirty="0">
                <a:solidFill>
                  <a:srgbClr val="C00000"/>
                </a:solidFill>
              </a:rPr>
              <a:t>یادداشت برداری </a:t>
            </a:r>
            <a:r>
              <a:rPr lang="fa-IR" dirty="0"/>
              <a:t>است.</a:t>
            </a:r>
          </a:p>
        </p:txBody>
      </p:sp>
    </p:spTree>
    <p:extLst>
      <p:ext uri="{BB962C8B-B14F-4D97-AF65-F5344CB8AC3E}">
        <p14:creationId xmlns:p14="http://schemas.microsoft.com/office/powerpoint/2010/main" val="12532621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E1DB8-1F38-466F-BDD4-EBE8298B93B4}"/>
              </a:ext>
            </a:extLst>
          </p:cNvPr>
          <p:cNvSpPr>
            <a:spLocks noGrp="1"/>
          </p:cNvSpPr>
          <p:nvPr>
            <p:ph type="title"/>
          </p:nvPr>
        </p:nvSpPr>
        <p:spPr>
          <a:xfrm>
            <a:off x="7493000" y="609600"/>
            <a:ext cx="3525520" cy="5016500"/>
          </a:xfrm>
        </p:spPr>
        <p:txBody>
          <a:bodyPr/>
          <a:lstStyle/>
          <a:p>
            <a:r>
              <a:rPr lang="fa-IR" dirty="0"/>
              <a:t>چند نکته برای ایجاد یادگیری فعال</a:t>
            </a:r>
            <a:endParaRPr lang="en-US" dirty="0"/>
          </a:p>
        </p:txBody>
      </p:sp>
      <p:pic>
        <p:nvPicPr>
          <p:cNvPr id="5" name="Picture 4">
            <a:extLst>
              <a:ext uri="{FF2B5EF4-FFF2-40B4-BE49-F238E27FC236}">
                <a16:creationId xmlns:a16="http://schemas.microsoft.com/office/drawing/2014/main" id="{B1F5A98E-F281-444D-96F7-340A7717E170}"/>
              </a:ext>
            </a:extLst>
          </p:cNvPr>
          <p:cNvPicPr>
            <a:picLocks noChangeAspect="1"/>
          </p:cNvPicPr>
          <p:nvPr/>
        </p:nvPicPr>
        <p:blipFill>
          <a:blip r:embed="rId2"/>
          <a:stretch>
            <a:fillRect/>
          </a:stretch>
        </p:blipFill>
        <p:spPr>
          <a:xfrm>
            <a:off x="1320800" y="419100"/>
            <a:ext cx="5334000" cy="6019800"/>
          </a:xfrm>
          <a:prstGeom prst="rect">
            <a:avLst/>
          </a:prstGeom>
        </p:spPr>
      </p:pic>
    </p:spTree>
    <p:extLst>
      <p:ext uri="{BB962C8B-B14F-4D97-AF65-F5344CB8AC3E}">
        <p14:creationId xmlns:p14="http://schemas.microsoft.com/office/powerpoint/2010/main" val="5003989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620FB-47AE-45A2-9D8E-10440AF5B136}"/>
              </a:ext>
            </a:extLst>
          </p:cNvPr>
          <p:cNvSpPr>
            <a:spLocks noGrp="1"/>
          </p:cNvSpPr>
          <p:nvPr>
            <p:ph type="title"/>
          </p:nvPr>
        </p:nvSpPr>
        <p:spPr>
          <a:xfrm>
            <a:off x="1173484" y="223088"/>
            <a:ext cx="9875520" cy="1356360"/>
          </a:xfrm>
        </p:spPr>
        <p:txBody>
          <a:bodyPr/>
          <a:lstStyle/>
          <a:p>
            <a:r>
              <a:rPr lang="fa-IR" dirty="0"/>
              <a:t>تکنیکهای یادداشت برداری</a:t>
            </a:r>
            <a:endParaRPr lang="en-US" dirty="0"/>
          </a:p>
        </p:txBody>
      </p:sp>
      <p:sp>
        <p:nvSpPr>
          <p:cNvPr id="4" name="Content Placeholder 3">
            <a:extLst>
              <a:ext uri="{FF2B5EF4-FFF2-40B4-BE49-F238E27FC236}">
                <a16:creationId xmlns:a16="http://schemas.microsoft.com/office/drawing/2014/main" id="{D4E9CC9E-5569-45FC-B951-D5F66EECD152}"/>
              </a:ext>
            </a:extLst>
          </p:cNvPr>
          <p:cNvSpPr>
            <a:spLocks noGrp="1"/>
          </p:cNvSpPr>
          <p:nvPr>
            <p:ph idx="1"/>
          </p:nvPr>
        </p:nvSpPr>
        <p:spPr>
          <a:xfrm>
            <a:off x="1142996" y="1625600"/>
            <a:ext cx="9872871" cy="4864100"/>
          </a:xfrm>
        </p:spPr>
        <p:txBody>
          <a:bodyPr>
            <a:normAutofit fontScale="92500" lnSpcReduction="20000"/>
          </a:bodyPr>
          <a:lstStyle/>
          <a:p>
            <a:r>
              <a:rPr lang="fa-IR" dirty="0"/>
              <a:t>اصول کلیدی یا نکات اصلی</a:t>
            </a:r>
          </a:p>
          <a:p>
            <a:pPr lvl="1"/>
            <a:r>
              <a:rPr lang="fa-IR" dirty="0"/>
              <a:t>شخصی</a:t>
            </a:r>
          </a:p>
          <a:p>
            <a:pPr lvl="1"/>
            <a:r>
              <a:rPr lang="fa-IR" dirty="0"/>
              <a:t>یادآوری </a:t>
            </a:r>
          </a:p>
          <a:p>
            <a:pPr lvl="1"/>
            <a:r>
              <a:rPr lang="fa-IR" dirty="0"/>
              <a:t>نیاز به تمرین یادداشت برداری</a:t>
            </a:r>
          </a:p>
          <a:p>
            <a:r>
              <a:rPr lang="en-US" dirty="0"/>
              <a:t>SQ3R </a:t>
            </a:r>
            <a:r>
              <a:rPr lang="fa-IR" dirty="0"/>
              <a:t>: </a:t>
            </a:r>
            <a:r>
              <a:rPr lang="en-US" dirty="0" err="1"/>
              <a:t>Survey,Question</a:t>
            </a:r>
            <a:r>
              <a:rPr lang="en-US" dirty="0"/>
              <a:t>, </a:t>
            </a:r>
          </a:p>
          <a:p>
            <a:pPr marL="45720" indent="0">
              <a:buNone/>
            </a:pPr>
            <a:r>
              <a:rPr lang="en-US" dirty="0" err="1"/>
              <a:t>Read,Recite</a:t>
            </a:r>
            <a:r>
              <a:rPr lang="en-US" dirty="0"/>
              <a:t>, Review</a:t>
            </a:r>
          </a:p>
          <a:p>
            <a:r>
              <a:rPr lang="fa-IR" dirty="0">
                <a:hlinkClick r:id="rId2" action="ppaction://hlinkfile"/>
              </a:rPr>
              <a:t>روش کرنل (</a:t>
            </a:r>
            <a:r>
              <a:rPr lang="en-US" dirty="0">
                <a:hlinkClick r:id="rId2" action="ppaction://hlinkfile"/>
              </a:rPr>
              <a:t>Cornell</a:t>
            </a:r>
            <a:r>
              <a:rPr lang="fa-IR" dirty="0">
                <a:hlinkClick r:id="rId2" action="ppaction://hlinkfile"/>
              </a:rPr>
              <a:t>)</a:t>
            </a:r>
            <a:endParaRPr lang="fa-IR" dirty="0"/>
          </a:p>
          <a:p>
            <a:r>
              <a:rPr lang="fa-IR" dirty="0"/>
              <a:t>نقشه مفهومی</a:t>
            </a:r>
          </a:p>
          <a:p>
            <a:r>
              <a:rPr lang="fa-IR" dirty="0"/>
              <a:t>فلش کارت</a:t>
            </a:r>
          </a:p>
          <a:p>
            <a:r>
              <a:rPr lang="fa-IR" dirty="0"/>
              <a:t> جدول </a:t>
            </a:r>
          </a:p>
          <a:p>
            <a:endParaRPr lang="en-US" dirty="0"/>
          </a:p>
        </p:txBody>
      </p:sp>
      <p:pic>
        <p:nvPicPr>
          <p:cNvPr id="6" name="Content Placeholder 4" descr="Young girl reading a book">
            <a:extLst>
              <a:ext uri="{FF2B5EF4-FFF2-40B4-BE49-F238E27FC236}">
                <a16:creationId xmlns:a16="http://schemas.microsoft.com/office/drawing/2014/main" id="{356070E2-C88F-4CE2-8FAE-B9F0CDE87C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21" y="1918132"/>
            <a:ext cx="6059379" cy="4038600"/>
          </a:xfrm>
          <a:prstGeom prst="rect">
            <a:avLst/>
          </a:prstGeom>
        </p:spPr>
      </p:pic>
    </p:spTree>
    <p:extLst>
      <p:ext uri="{BB962C8B-B14F-4D97-AF65-F5344CB8AC3E}">
        <p14:creationId xmlns:p14="http://schemas.microsoft.com/office/powerpoint/2010/main" val="146242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29773-FB0E-4319-8737-AD828E3AD7E1}"/>
              </a:ext>
            </a:extLst>
          </p:cNvPr>
          <p:cNvSpPr>
            <a:spLocks noGrp="1"/>
          </p:cNvSpPr>
          <p:nvPr>
            <p:ph type="title"/>
          </p:nvPr>
        </p:nvSpPr>
        <p:spPr/>
        <p:txBody>
          <a:bodyPr/>
          <a:lstStyle/>
          <a:p>
            <a:r>
              <a:rPr lang="fa-IR" dirty="0"/>
              <a:t>نقشه های مفهومی</a:t>
            </a:r>
            <a:endParaRPr lang="en-US" dirty="0"/>
          </a:p>
        </p:txBody>
      </p:sp>
      <p:sp>
        <p:nvSpPr>
          <p:cNvPr id="3" name="Content Placeholder 2">
            <a:extLst>
              <a:ext uri="{FF2B5EF4-FFF2-40B4-BE49-F238E27FC236}">
                <a16:creationId xmlns:a16="http://schemas.microsoft.com/office/drawing/2014/main" id="{49F41BE7-794B-4731-BE29-B37D7A59D043}"/>
              </a:ext>
            </a:extLst>
          </p:cNvPr>
          <p:cNvSpPr>
            <a:spLocks noGrp="1"/>
          </p:cNvSpPr>
          <p:nvPr>
            <p:ph idx="1"/>
          </p:nvPr>
        </p:nvSpPr>
        <p:spPr/>
        <p:txBody>
          <a:bodyPr/>
          <a:lstStyle/>
          <a:p>
            <a:r>
              <a:rPr lang="fa-IR" dirty="0"/>
              <a:t>میزان دانش هر فرد با حافظه او در ارتباط است. این نکته جذابیت نقشه های مفهومی را مشخص می کند</a:t>
            </a:r>
          </a:p>
          <a:p>
            <a:r>
              <a:rPr lang="fa-IR" dirty="0"/>
              <a:t>نقشه های مفهومی تصاویر دیاگراماتیک شبکه ای از موضوعات به هم پیوسته هستند.</a:t>
            </a:r>
          </a:p>
          <a:p>
            <a:r>
              <a:rPr lang="fa-IR" dirty="0"/>
              <a:t>هر کدام از دایره ها در نقشه مفهومی یک کلمه کلیدی ارتباط دو کلمه با یک پیکان نشان داده می شود که بر روی هر پیکان یک کلمه یا عبارت نوشته میشود که ارتباط آن دو را توصیف می کند. </a:t>
            </a:r>
          </a:p>
          <a:p>
            <a:r>
              <a:rPr lang="fa-IR" dirty="0"/>
              <a:t>برای مباحث پیچیده بسیار مفیدتر خواهند بود.</a:t>
            </a:r>
            <a:endParaRPr lang="en-US" dirty="0"/>
          </a:p>
        </p:txBody>
      </p:sp>
    </p:spTree>
    <p:extLst>
      <p:ext uri="{BB962C8B-B14F-4D97-AF65-F5344CB8AC3E}">
        <p14:creationId xmlns:p14="http://schemas.microsoft.com/office/powerpoint/2010/main" val="17161116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217BD-78B6-4835-B00E-4ABA383174D8}"/>
              </a:ext>
            </a:extLst>
          </p:cNvPr>
          <p:cNvSpPr>
            <a:spLocks noGrp="1"/>
          </p:cNvSpPr>
          <p:nvPr>
            <p:ph type="title"/>
          </p:nvPr>
        </p:nvSpPr>
        <p:spPr>
          <a:xfrm>
            <a:off x="1257300" y="0"/>
            <a:ext cx="9875520" cy="1356360"/>
          </a:xfrm>
        </p:spPr>
        <p:txBody>
          <a:bodyPr/>
          <a:lstStyle/>
          <a:p>
            <a:r>
              <a:rPr lang="fa-IR" dirty="0"/>
              <a:t>نمونه ای از نقشه مفهومی</a:t>
            </a:r>
            <a:endParaRPr lang="en-US" dirty="0"/>
          </a:p>
        </p:txBody>
      </p:sp>
      <p:sp>
        <p:nvSpPr>
          <p:cNvPr id="3" name="Content Placeholder 2">
            <a:extLst>
              <a:ext uri="{FF2B5EF4-FFF2-40B4-BE49-F238E27FC236}">
                <a16:creationId xmlns:a16="http://schemas.microsoft.com/office/drawing/2014/main" id="{3072E038-C675-45C0-A526-8398F61938E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38ED3EE-2251-4358-9B0C-B71762622430}"/>
              </a:ext>
            </a:extLst>
          </p:cNvPr>
          <p:cNvPicPr>
            <a:picLocks noChangeAspect="1"/>
          </p:cNvPicPr>
          <p:nvPr/>
        </p:nvPicPr>
        <p:blipFill>
          <a:blip r:embed="rId2"/>
          <a:stretch>
            <a:fillRect/>
          </a:stretch>
        </p:blipFill>
        <p:spPr>
          <a:xfrm>
            <a:off x="604837" y="1038225"/>
            <a:ext cx="10982325" cy="4781550"/>
          </a:xfrm>
          <a:prstGeom prst="rect">
            <a:avLst/>
          </a:prstGeom>
        </p:spPr>
      </p:pic>
    </p:spTree>
    <p:extLst>
      <p:ext uri="{BB962C8B-B14F-4D97-AF65-F5344CB8AC3E}">
        <p14:creationId xmlns:p14="http://schemas.microsoft.com/office/powerpoint/2010/main" val="2841627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45631-80C2-4C5D-B720-3362811D6973}"/>
              </a:ext>
            </a:extLst>
          </p:cNvPr>
          <p:cNvSpPr>
            <a:spLocks noGrp="1"/>
          </p:cNvSpPr>
          <p:nvPr>
            <p:ph type="title"/>
          </p:nvPr>
        </p:nvSpPr>
        <p:spPr/>
        <p:txBody>
          <a:bodyPr/>
          <a:lstStyle/>
          <a:p>
            <a:r>
              <a:rPr lang="fa-IR" dirty="0"/>
              <a:t>فلش کارت ها</a:t>
            </a:r>
            <a:endParaRPr lang="en-US" dirty="0"/>
          </a:p>
        </p:txBody>
      </p:sp>
      <p:sp>
        <p:nvSpPr>
          <p:cNvPr id="3" name="Content Placeholder 2">
            <a:extLst>
              <a:ext uri="{FF2B5EF4-FFF2-40B4-BE49-F238E27FC236}">
                <a16:creationId xmlns:a16="http://schemas.microsoft.com/office/drawing/2014/main" id="{033BA5EF-0968-45CB-A091-65AAED63EB9C}"/>
              </a:ext>
            </a:extLst>
          </p:cNvPr>
          <p:cNvSpPr>
            <a:spLocks noGrp="1"/>
          </p:cNvSpPr>
          <p:nvPr>
            <p:ph idx="1"/>
          </p:nvPr>
        </p:nvSpPr>
        <p:spPr/>
        <p:txBody>
          <a:bodyPr/>
          <a:lstStyle/>
          <a:p>
            <a:pPr marL="45720" indent="0">
              <a:buNone/>
            </a:pPr>
            <a:r>
              <a:rPr lang="fa-IR" dirty="0"/>
              <a:t>حاوی کلمات کلیدی و نکات متمایز هر موضوع است </a:t>
            </a:r>
          </a:p>
          <a:p>
            <a:pPr marL="45720" indent="0">
              <a:buNone/>
            </a:pPr>
            <a:r>
              <a:rPr lang="fa-IR" dirty="0"/>
              <a:t>در همه اوقات در دسترس هستند </a:t>
            </a:r>
          </a:p>
          <a:p>
            <a:pPr marL="45720" indent="0">
              <a:buNone/>
            </a:pPr>
            <a:r>
              <a:rPr lang="fa-IR" dirty="0"/>
              <a:t>مرور مداوم</a:t>
            </a:r>
          </a:p>
          <a:p>
            <a:pPr marL="45720" indent="0">
              <a:buNone/>
            </a:pPr>
            <a:r>
              <a:rPr lang="fa-IR" dirty="0"/>
              <a:t>...</a:t>
            </a:r>
            <a:endParaRPr lang="en-US" dirty="0"/>
          </a:p>
        </p:txBody>
      </p:sp>
    </p:spTree>
    <p:extLst>
      <p:ext uri="{BB962C8B-B14F-4D97-AF65-F5344CB8AC3E}">
        <p14:creationId xmlns:p14="http://schemas.microsoft.com/office/powerpoint/2010/main" val="22500211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58124-FA7F-4045-A678-EA3FFEE29FD1}"/>
              </a:ext>
            </a:extLst>
          </p:cNvPr>
          <p:cNvSpPr>
            <a:spLocks noGrp="1"/>
          </p:cNvSpPr>
          <p:nvPr>
            <p:ph type="title"/>
          </p:nvPr>
        </p:nvSpPr>
        <p:spPr/>
        <p:txBody>
          <a:bodyPr/>
          <a:lstStyle/>
          <a:p>
            <a:r>
              <a:rPr lang="fa-IR" dirty="0"/>
              <a:t>جداول</a:t>
            </a:r>
            <a:endParaRPr lang="en-US" dirty="0"/>
          </a:p>
        </p:txBody>
      </p:sp>
      <p:sp>
        <p:nvSpPr>
          <p:cNvPr id="3" name="Content Placeholder 2">
            <a:extLst>
              <a:ext uri="{FF2B5EF4-FFF2-40B4-BE49-F238E27FC236}">
                <a16:creationId xmlns:a16="http://schemas.microsoft.com/office/drawing/2014/main" id="{044254DF-189C-48D7-8D8A-CC608B44F736}"/>
              </a:ext>
            </a:extLst>
          </p:cNvPr>
          <p:cNvSpPr>
            <a:spLocks noGrp="1"/>
          </p:cNvSpPr>
          <p:nvPr>
            <p:ph idx="1"/>
          </p:nvPr>
        </p:nvSpPr>
        <p:spPr>
          <a:xfrm>
            <a:off x="914400" y="2057400"/>
            <a:ext cx="10101467" cy="4038600"/>
          </a:xfrm>
        </p:spPr>
        <p:txBody>
          <a:bodyPr>
            <a:normAutofit lnSpcReduction="10000"/>
          </a:bodyPr>
          <a:lstStyle/>
          <a:p>
            <a:r>
              <a:rPr lang="fa-IR" dirty="0"/>
              <a:t>طراحی جداول یک روش بسیار عالی برای خلاصه نویسی مطالب فرا گرفته شده است.</a:t>
            </a:r>
          </a:p>
          <a:p>
            <a:endParaRPr lang="fa-IR" dirty="0"/>
          </a:p>
          <a:p>
            <a:r>
              <a:rPr lang="fa-IR" dirty="0"/>
              <a:t>برای مقایسه دو یا چند موضوع کاربرد بیشتری دارد</a:t>
            </a:r>
          </a:p>
          <a:p>
            <a:pPr marL="45720" indent="0">
              <a:buNone/>
            </a:pPr>
            <a:r>
              <a:rPr lang="fa-IR" dirty="0"/>
              <a:t>ولی در مورد ویژگیهای یک موضوع نیز میشود استفاده کرد.</a:t>
            </a:r>
          </a:p>
          <a:p>
            <a:pPr marL="45720" indent="0">
              <a:buNone/>
            </a:pPr>
            <a:endParaRPr lang="fa-IR" dirty="0"/>
          </a:p>
          <a:p>
            <a:pPr marL="45720" indent="0">
              <a:buNone/>
            </a:pPr>
            <a:r>
              <a:rPr lang="fa-IR" dirty="0"/>
              <a:t>مثلا روشها یا اقدامات مختلف مربوط به یک بیماری که نتایج آنها را مقابلشان می نویسیم</a:t>
            </a:r>
          </a:p>
          <a:p>
            <a:endParaRPr lang="en-US" dirty="0"/>
          </a:p>
        </p:txBody>
      </p:sp>
    </p:spTree>
    <p:extLst>
      <p:ext uri="{BB962C8B-B14F-4D97-AF65-F5344CB8AC3E}">
        <p14:creationId xmlns:p14="http://schemas.microsoft.com/office/powerpoint/2010/main" val="9007400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620FB-47AE-45A2-9D8E-10440AF5B136}"/>
              </a:ext>
            </a:extLst>
          </p:cNvPr>
          <p:cNvSpPr>
            <a:spLocks noGrp="1"/>
          </p:cNvSpPr>
          <p:nvPr>
            <p:ph type="title"/>
          </p:nvPr>
        </p:nvSpPr>
        <p:spPr/>
        <p:txBody>
          <a:bodyPr/>
          <a:lstStyle/>
          <a:p>
            <a:r>
              <a:rPr lang="fa-IR" dirty="0"/>
              <a:t>محیطهای یادگیری</a:t>
            </a:r>
            <a:endParaRPr lang="en-US" dirty="0"/>
          </a:p>
        </p:txBody>
      </p:sp>
      <p:sp>
        <p:nvSpPr>
          <p:cNvPr id="4" name="Content Placeholder 3">
            <a:extLst>
              <a:ext uri="{FF2B5EF4-FFF2-40B4-BE49-F238E27FC236}">
                <a16:creationId xmlns:a16="http://schemas.microsoft.com/office/drawing/2014/main" id="{D4E9CC9E-5569-45FC-B951-D5F66EECD152}"/>
              </a:ext>
            </a:extLst>
          </p:cNvPr>
          <p:cNvSpPr>
            <a:spLocks noGrp="1"/>
          </p:cNvSpPr>
          <p:nvPr>
            <p:ph idx="1"/>
          </p:nvPr>
        </p:nvSpPr>
        <p:spPr/>
        <p:txBody>
          <a:bodyPr/>
          <a:lstStyle/>
          <a:p>
            <a:pPr marL="560070" indent="-514350">
              <a:buFont typeface="+mj-lt"/>
              <a:buAutoNum type="arabicPeriod"/>
            </a:pPr>
            <a:r>
              <a:rPr lang="fa-IR" dirty="0"/>
              <a:t>یادگیری از سخنرانیها </a:t>
            </a:r>
          </a:p>
          <a:p>
            <a:pPr marL="560070" indent="-514350">
              <a:buFont typeface="+mj-lt"/>
              <a:buAutoNum type="arabicPeriod"/>
            </a:pPr>
            <a:r>
              <a:rPr lang="fa-IR" dirty="0"/>
              <a:t>یادگیری از کتب</a:t>
            </a:r>
          </a:p>
          <a:p>
            <a:pPr marL="560070" indent="-514350">
              <a:buFont typeface="+mj-lt"/>
              <a:buAutoNum type="arabicPeriod"/>
            </a:pPr>
            <a:r>
              <a:rPr lang="fa-IR" dirty="0"/>
              <a:t>یادگیری از اینترنت</a:t>
            </a:r>
          </a:p>
          <a:p>
            <a:pPr marL="560070" indent="-514350">
              <a:buFont typeface="+mj-lt"/>
              <a:buAutoNum type="arabicPeriod"/>
            </a:pPr>
            <a:r>
              <a:rPr lang="fa-IR" dirty="0"/>
              <a:t>یادگیری از طریق </a:t>
            </a:r>
            <a:r>
              <a:rPr lang="en-US" dirty="0"/>
              <a:t>Reflection</a:t>
            </a:r>
            <a:r>
              <a:rPr lang="fa-IR" dirty="0"/>
              <a:t> یا بازاندیشی</a:t>
            </a:r>
          </a:p>
          <a:p>
            <a:pPr marL="560070" indent="-514350">
              <a:buFont typeface="+mj-lt"/>
              <a:buAutoNum type="arabicPeriod"/>
            </a:pPr>
            <a:endParaRPr lang="en-US" dirty="0"/>
          </a:p>
        </p:txBody>
      </p:sp>
      <p:pic>
        <p:nvPicPr>
          <p:cNvPr id="7" name="Content Placeholder 4" descr="Two school students doing a science project">
            <a:extLst>
              <a:ext uri="{FF2B5EF4-FFF2-40B4-BE49-F238E27FC236}">
                <a16:creationId xmlns:a16="http://schemas.microsoft.com/office/drawing/2014/main" id="{7F80743E-F438-4C70-B4D6-D9FF6023B7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2854"/>
            <a:ext cx="2955498" cy="1969851"/>
          </a:xfrm>
          <a:prstGeom prst="rect">
            <a:avLst/>
          </a:prstGeom>
        </p:spPr>
      </p:pic>
    </p:spTree>
    <p:extLst>
      <p:ext uri="{BB962C8B-B14F-4D97-AF65-F5344CB8AC3E}">
        <p14:creationId xmlns:p14="http://schemas.microsoft.com/office/powerpoint/2010/main" val="2966590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5825C-5BAE-48AC-9833-AB79BA51A577}"/>
              </a:ext>
            </a:extLst>
          </p:cNvPr>
          <p:cNvSpPr>
            <a:spLocks noGrp="1"/>
          </p:cNvSpPr>
          <p:nvPr>
            <p:ph type="title"/>
          </p:nvPr>
        </p:nvSpPr>
        <p:spPr>
          <a:xfrm>
            <a:off x="5448300" y="609600"/>
            <a:ext cx="5570220" cy="1356360"/>
          </a:xfrm>
        </p:spPr>
        <p:txBody>
          <a:bodyPr/>
          <a:lstStyle/>
          <a:p>
            <a:r>
              <a:rPr lang="fa-IR" dirty="0"/>
              <a:t>یادگیری از سخنرانیها </a:t>
            </a:r>
            <a:endParaRPr lang="en-US" dirty="0"/>
          </a:p>
        </p:txBody>
      </p:sp>
      <p:sp>
        <p:nvSpPr>
          <p:cNvPr id="3" name="Content Placeholder 2">
            <a:extLst>
              <a:ext uri="{FF2B5EF4-FFF2-40B4-BE49-F238E27FC236}">
                <a16:creationId xmlns:a16="http://schemas.microsoft.com/office/drawing/2014/main" id="{710B23EE-223C-4925-B28F-D1BBDE9382D2}"/>
              </a:ext>
            </a:extLst>
          </p:cNvPr>
          <p:cNvSpPr>
            <a:spLocks noGrp="1"/>
          </p:cNvSpPr>
          <p:nvPr>
            <p:ph idx="1"/>
          </p:nvPr>
        </p:nvSpPr>
        <p:spPr>
          <a:xfrm>
            <a:off x="749296" y="2565466"/>
            <a:ext cx="9872871" cy="4038600"/>
          </a:xfrm>
        </p:spPr>
        <p:txBody>
          <a:bodyPr/>
          <a:lstStyle/>
          <a:p>
            <a:r>
              <a:rPr lang="fa-IR" dirty="0"/>
              <a:t>روش عمده کلاسهای آموزشی دانشکده پزشکی است</a:t>
            </a:r>
          </a:p>
          <a:p>
            <a:r>
              <a:rPr lang="fa-IR" dirty="0"/>
              <a:t>مرحله آمادگی بسیار مهم است که کمک می کند عنوان مورد بحث را بهتر درک کنید</a:t>
            </a:r>
          </a:p>
          <a:p>
            <a:r>
              <a:rPr lang="fa-IR" dirty="0"/>
              <a:t>شب قبل و یا حداقل 20 دقیقه قبل از سخنرانی اطلاعاتی در مورد عنوان و کلیت سخنرانی کسب کنید. ترجیحا از اطلاعاتی که پیدا کردید یادداشت بردارید و جای خالی در نوشته هایتان بگذارید. (نقشه ذهنیتان بهتر شکل می گیرد)</a:t>
            </a:r>
          </a:p>
          <a:p>
            <a:r>
              <a:rPr lang="fa-IR" dirty="0"/>
              <a:t>سپس در جلسه سخنرانی خوب گوش دهید و یادداشتهای لازم را بردارید تا جاهای خالی مطالبتان تکمیل شود و سوالاتتان را نیز بپرسید</a:t>
            </a:r>
          </a:p>
          <a:p>
            <a:endParaRPr lang="en-US" dirty="0"/>
          </a:p>
        </p:txBody>
      </p:sp>
      <p:pic>
        <p:nvPicPr>
          <p:cNvPr id="7" name="Picture 6">
            <a:extLst>
              <a:ext uri="{FF2B5EF4-FFF2-40B4-BE49-F238E27FC236}">
                <a16:creationId xmlns:a16="http://schemas.microsoft.com/office/drawing/2014/main" id="{950D57A2-1A42-46CA-9BCF-93FA181F82E0}"/>
              </a:ext>
            </a:extLst>
          </p:cNvPr>
          <p:cNvPicPr>
            <a:picLocks noChangeAspect="1"/>
          </p:cNvPicPr>
          <p:nvPr/>
        </p:nvPicPr>
        <p:blipFill>
          <a:blip r:embed="rId2"/>
          <a:stretch>
            <a:fillRect/>
          </a:stretch>
        </p:blipFill>
        <p:spPr>
          <a:xfrm>
            <a:off x="247536" y="253934"/>
            <a:ext cx="4432528" cy="2540131"/>
          </a:xfrm>
          <a:prstGeom prst="rect">
            <a:avLst/>
          </a:prstGeom>
        </p:spPr>
      </p:pic>
    </p:spTree>
    <p:extLst>
      <p:ext uri="{BB962C8B-B14F-4D97-AF65-F5344CB8AC3E}">
        <p14:creationId xmlns:p14="http://schemas.microsoft.com/office/powerpoint/2010/main" val="14376926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83CB0-6CED-4DFD-9DCC-12B8FB5DABBB}"/>
              </a:ext>
            </a:extLst>
          </p:cNvPr>
          <p:cNvSpPr>
            <a:spLocks noGrp="1"/>
          </p:cNvSpPr>
          <p:nvPr>
            <p:ph type="title"/>
          </p:nvPr>
        </p:nvSpPr>
        <p:spPr/>
        <p:txBody>
          <a:bodyPr/>
          <a:lstStyle/>
          <a:p>
            <a:r>
              <a:rPr lang="fa-IR" dirty="0"/>
              <a:t>در سخنرانی</a:t>
            </a:r>
            <a:endParaRPr lang="en-US" dirty="0"/>
          </a:p>
        </p:txBody>
      </p:sp>
      <p:sp>
        <p:nvSpPr>
          <p:cNvPr id="3" name="Content Placeholder 2">
            <a:extLst>
              <a:ext uri="{FF2B5EF4-FFF2-40B4-BE49-F238E27FC236}">
                <a16:creationId xmlns:a16="http://schemas.microsoft.com/office/drawing/2014/main" id="{18C3F069-C008-4739-81F6-1FB36514BBA6}"/>
              </a:ext>
            </a:extLst>
          </p:cNvPr>
          <p:cNvSpPr>
            <a:spLocks noGrp="1"/>
          </p:cNvSpPr>
          <p:nvPr>
            <p:ph idx="1"/>
          </p:nvPr>
        </p:nvSpPr>
        <p:spPr/>
        <p:txBody>
          <a:bodyPr/>
          <a:lstStyle/>
          <a:p>
            <a:r>
              <a:rPr lang="fa-IR" dirty="0"/>
              <a:t>محل نشستن شما برای بیشترین تمرکز</a:t>
            </a:r>
          </a:p>
          <a:p>
            <a:r>
              <a:rPr lang="fa-IR" dirty="0"/>
              <a:t>توجه به نکات خاصی که بیان می شود</a:t>
            </a:r>
          </a:p>
          <a:p>
            <a:r>
              <a:rPr lang="fa-IR" dirty="0"/>
              <a:t>توجه به عبارتهای "مهمترین نکته "، "به طور خلاصه"، "نکته اول و دوم و ..."</a:t>
            </a:r>
          </a:p>
          <a:p>
            <a:r>
              <a:rPr lang="fa-IR" dirty="0"/>
              <a:t>سعی بر درک مطلب نوشته شده در اسلایدها به جای کلمات نوشته شده</a:t>
            </a:r>
          </a:p>
          <a:p>
            <a:r>
              <a:rPr lang="fa-IR" dirty="0"/>
              <a:t>از جدول و فلش و عکسها و خودکارهای رنگی برای برجسته سازی استفاده نمایید</a:t>
            </a:r>
          </a:p>
          <a:p>
            <a:r>
              <a:rPr lang="fa-IR" dirty="0"/>
              <a:t>دور کلمات جدید یا تغاریف آنها یک دایره بکشید </a:t>
            </a:r>
            <a:endParaRPr lang="en-US" dirty="0"/>
          </a:p>
        </p:txBody>
      </p:sp>
    </p:spTree>
    <p:extLst>
      <p:ext uri="{BB962C8B-B14F-4D97-AF65-F5344CB8AC3E}">
        <p14:creationId xmlns:p14="http://schemas.microsoft.com/office/powerpoint/2010/main" val="10941624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506C7-1E45-4BFB-A7FD-582DB2B1235F}"/>
              </a:ext>
            </a:extLst>
          </p:cNvPr>
          <p:cNvSpPr>
            <a:spLocks noGrp="1"/>
          </p:cNvSpPr>
          <p:nvPr>
            <p:ph type="title"/>
          </p:nvPr>
        </p:nvSpPr>
        <p:spPr/>
        <p:txBody>
          <a:bodyPr/>
          <a:lstStyle/>
          <a:p>
            <a:r>
              <a:rPr lang="fa-IR" dirty="0"/>
              <a:t>بعد از سخنرانی</a:t>
            </a:r>
            <a:endParaRPr lang="en-US" dirty="0"/>
          </a:p>
        </p:txBody>
      </p:sp>
      <p:sp>
        <p:nvSpPr>
          <p:cNvPr id="3" name="Content Placeholder 2">
            <a:extLst>
              <a:ext uri="{FF2B5EF4-FFF2-40B4-BE49-F238E27FC236}">
                <a16:creationId xmlns:a16="http://schemas.microsoft.com/office/drawing/2014/main" id="{F99E2D7B-2708-4556-8485-5C9D7073581E}"/>
              </a:ext>
            </a:extLst>
          </p:cNvPr>
          <p:cNvSpPr>
            <a:spLocks noGrp="1"/>
          </p:cNvSpPr>
          <p:nvPr>
            <p:ph idx="1"/>
          </p:nvPr>
        </p:nvSpPr>
        <p:spPr/>
        <p:txBody>
          <a:bodyPr/>
          <a:lstStyle/>
          <a:p>
            <a:r>
              <a:rPr lang="fa-IR" dirty="0"/>
              <a:t>یادداشتهایتان را مرتب کنید</a:t>
            </a:r>
          </a:p>
          <a:p>
            <a:r>
              <a:rPr lang="fa-IR" dirty="0"/>
              <a:t>مطالب امروز را با مطالبی که قبلا یاد گرفته بودید و سخنرانی های قبلی، لینک بدهید تا فراموش نشود</a:t>
            </a:r>
          </a:p>
          <a:p>
            <a:r>
              <a:rPr lang="fa-IR" dirty="0"/>
              <a:t>در سخنرانی هایی که برای شما بسیار دشوار هستند، کافیست اهداف و سرفصلها را مشخص کنید و کتابی برای آن موضوع پیدا کنید و آن را مطالعه کنید.</a:t>
            </a:r>
            <a:endParaRPr lang="en-US" dirty="0"/>
          </a:p>
        </p:txBody>
      </p:sp>
    </p:spTree>
    <p:extLst>
      <p:ext uri="{BB962C8B-B14F-4D97-AF65-F5344CB8AC3E}">
        <p14:creationId xmlns:p14="http://schemas.microsoft.com/office/powerpoint/2010/main" val="8713933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E5EE1-1805-4B1C-8EB8-D3B806E9F64A}"/>
              </a:ext>
            </a:extLst>
          </p:cNvPr>
          <p:cNvSpPr>
            <a:spLocks noGrp="1"/>
          </p:cNvSpPr>
          <p:nvPr>
            <p:ph type="title"/>
          </p:nvPr>
        </p:nvSpPr>
        <p:spPr>
          <a:xfrm>
            <a:off x="6388100" y="609600"/>
            <a:ext cx="4630420" cy="1356360"/>
          </a:xfrm>
        </p:spPr>
        <p:txBody>
          <a:bodyPr/>
          <a:lstStyle/>
          <a:p>
            <a:r>
              <a:rPr lang="fa-IR" dirty="0"/>
              <a:t>یادگیری از کتب</a:t>
            </a:r>
            <a:endParaRPr lang="en-US" dirty="0"/>
          </a:p>
        </p:txBody>
      </p:sp>
      <p:sp>
        <p:nvSpPr>
          <p:cNvPr id="4" name="Content Placeholder 3">
            <a:extLst>
              <a:ext uri="{FF2B5EF4-FFF2-40B4-BE49-F238E27FC236}">
                <a16:creationId xmlns:a16="http://schemas.microsoft.com/office/drawing/2014/main" id="{DA687D05-4E4A-41C5-9339-E816535A5C0C}"/>
              </a:ext>
            </a:extLst>
          </p:cNvPr>
          <p:cNvSpPr>
            <a:spLocks noGrp="1"/>
          </p:cNvSpPr>
          <p:nvPr>
            <p:ph idx="1"/>
          </p:nvPr>
        </p:nvSpPr>
        <p:spPr/>
        <p:txBody>
          <a:bodyPr>
            <a:normAutofit lnSpcReduction="10000"/>
          </a:bodyPr>
          <a:lstStyle/>
          <a:p>
            <a:r>
              <a:rPr lang="fa-IR" dirty="0"/>
              <a:t>در محیطی آرام</a:t>
            </a:r>
          </a:p>
          <a:p>
            <a:r>
              <a:rPr lang="fa-IR" dirty="0"/>
              <a:t>بدون صداهای اضافی </a:t>
            </a:r>
          </a:p>
          <a:p>
            <a:r>
              <a:rPr lang="fa-IR" dirty="0"/>
              <a:t>افراد در جلو شما ننشسته باشند ترجیحا رو به دیوار باشید</a:t>
            </a:r>
          </a:p>
          <a:p>
            <a:r>
              <a:rPr lang="fa-IR" dirty="0"/>
              <a:t>استفاده از اشکال و تصاویری که خودتان در مورد متن کشیده اید</a:t>
            </a:r>
          </a:p>
          <a:p>
            <a:r>
              <a:rPr lang="fa-IR" dirty="0"/>
              <a:t>حاشیه نویسی در صورت تمایل</a:t>
            </a:r>
          </a:p>
          <a:p>
            <a:r>
              <a:rPr lang="fa-IR" dirty="0"/>
              <a:t>یادداشت نکات کلیدی و مطالب دشوار </a:t>
            </a:r>
          </a:p>
          <a:p>
            <a:r>
              <a:rPr lang="fa-IR" dirty="0"/>
              <a:t>از محتوای کتاب برای خودتان سوال در بیاورید ( البته با تاکسونومی بالا)</a:t>
            </a:r>
            <a:endParaRPr lang="en-US" dirty="0"/>
          </a:p>
        </p:txBody>
      </p:sp>
      <p:pic>
        <p:nvPicPr>
          <p:cNvPr id="6" name="Content Placeholder 4" descr="Coffee cup and books">
            <a:extLst>
              <a:ext uri="{FF2B5EF4-FFF2-40B4-BE49-F238E27FC236}">
                <a16:creationId xmlns:a16="http://schemas.microsoft.com/office/drawing/2014/main" id="{BB73590F-FC76-4805-AB02-2956346F9F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4166863" cy="2781300"/>
          </a:xfrm>
          <a:prstGeom prst="rect">
            <a:avLst/>
          </a:prstGeom>
        </p:spPr>
      </p:pic>
    </p:spTree>
    <p:extLst>
      <p:ext uri="{BB962C8B-B14F-4D97-AF65-F5344CB8AC3E}">
        <p14:creationId xmlns:p14="http://schemas.microsoft.com/office/powerpoint/2010/main" val="15889331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B1AC-5A94-4E6A-B1C4-5B49EE8FC2AD}"/>
              </a:ext>
            </a:extLst>
          </p:cNvPr>
          <p:cNvSpPr>
            <a:spLocks noGrp="1"/>
          </p:cNvSpPr>
          <p:nvPr>
            <p:ph type="title"/>
          </p:nvPr>
        </p:nvSpPr>
        <p:spPr/>
        <p:txBody>
          <a:bodyPr/>
          <a:lstStyle/>
          <a:p>
            <a:r>
              <a:rPr lang="fa-IR" dirty="0"/>
              <a:t>یادگیری از اینترنت</a:t>
            </a:r>
            <a:endParaRPr lang="en-US" dirty="0"/>
          </a:p>
        </p:txBody>
      </p:sp>
      <p:sp>
        <p:nvSpPr>
          <p:cNvPr id="3" name="Content Placeholder 2">
            <a:extLst>
              <a:ext uri="{FF2B5EF4-FFF2-40B4-BE49-F238E27FC236}">
                <a16:creationId xmlns:a16="http://schemas.microsoft.com/office/drawing/2014/main" id="{B7B1D0EC-9487-48A6-9F36-321DD951A3EB}"/>
              </a:ext>
            </a:extLst>
          </p:cNvPr>
          <p:cNvSpPr>
            <a:spLocks noGrp="1"/>
          </p:cNvSpPr>
          <p:nvPr>
            <p:ph idx="1"/>
          </p:nvPr>
        </p:nvSpPr>
        <p:spPr/>
        <p:txBody>
          <a:bodyPr/>
          <a:lstStyle/>
          <a:p>
            <a:endParaRPr lang="en-US" dirty="0"/>
          </a:p>
        </p:txBody>
      </p:sp>
      <p:pic>
        <p:nvPicPr>
          <p:cNvPr id="4" name="Content Placeholder 4" descr="Person using laptop">
            <a:extLst>
              <a:ext uri="{FF2B5EF4-FFF2-40B4-BE49-F238E27FC236}">
                <a16:creationId xmlns:a16="http://schemas.microsoft.com/office/drawing/2014/main" id="{513BEAA1-A207-4AFD-89E4-40B23B7B31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6133" y="2057400"/>
            <a:ext cx="4501420" cy="3000654"/>
          </a:xfrm>
          <a:prstGeom prst="rect">
            <a:avLst/>
          </a:prstGeom>
        </p:spPr>
      </p:pic>
    </p:spTree>
    <p:extLst>
      <p:ext uri="{BB962C8B-B14F-4D97-AF65-F5344CB8AC3E}">
        <p14:creationId xmlns:p14="http://schemas.microsoft.com/office/powerpoint/2010/main" val="13003696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BB5D8-6CB0-4BDD-AB9C-0FCE7825B1D4}"/>
              </a:ext>
            </a:extLst>
          </p:cNvPr>
          <p:cNvSpPr>
            <a:spLocks noGrp="1"/>
          </p:cNvSpPr>
          <p:nvPr>
            <p:ph type="title"/>
          </p:nvPr>
        </p:nvSpPr>
        <p:spPr>
          <a:xfrm>
            <a:off x="7735886" y="609600"/>
            <a:ext cx="3282633" cy="5092700"/>
          </a:xfrm>
        </p:spPr>
        <p:txBody>
          <a:bodyPr>
            <a:normAutofit/>
          </a:bodyPr>
          <a:lstStyle/>
          <a:p>
            <a:r>
              <a:rPr lang="fa-IR" dirty="0"/>
              <a:t>یادگیری از طریق بازاندیشی (</a:t>
            </a:r>
            <a:r>
              <a:rPr lang="en-US" dirty="0"/>
              <a:t>Reflection</a:t>
            </a:r>
            <a:r>
              <a:rPr lang="fa-IR" dirty="0"/>
              <a:t>)</a:t>
            </a:r>
            <a:endParaRPr lang="en-US" dirty="0"/>
          </a:p>
        </p:txBody>
      </p:sp>
      <p:pic>
        <p:nvPicPr>
          <p:cNvPr id="4" name="Picture 3">
            <a:extLst>
              <a:ext uri="{FF2B5EF4-FFF2-40B4-BE49-F238E27FC236}">
                <a16:creationId xmlns:a16="http://schemas.microsoft.com/office/drawing/2014/main" id="{76CB8605-0A65-4C57-BBDD-D9C154BA3445}"/>
              </a:ext>
            </a:extLst>
          </p:cNvPr>
          <p:cNvPicPr>
            <a:picLocks noChangeAspect="1"/>
          </p:cNvPicPr>
          <p:nvPr/>
        </p:nvPicPr>
        <p:blipFill>
          <a:blip r:embed="rId2"/>
          <a:stretch>
            <a:fillRect/>
          </a:stretch>
        </p:blipFill>
        <p:spPr>
          <a:xfrm>
            <a:off x="392112" y="176212"/>
            <a:ext cx="7343775" cy="6505575"/>
          </a:xfrm>
          <a:prstGeom prst="rect">
            <a:avLst/>
          </a:prstGeom>
        </p:spPr>
      </p:pic>
      <p:pic>
        <p:nvPicPr>
          <p:cNvPr id="5" name="Picture 4">
            <a:extLst>
              <a:ext uri="{FF2B5EF4-FFF2-40B4-BE49-F238E27FC236}">
                <a16:creationId xmlns:a16="http://schemas.microsoft.com/office/drawing/2014/main" id="{67E21163-F3FC-495E-BF6D-4F04116ADDA0}"/>
              </a:ext>
            </a:extLst>
          </p:cNvPr>
          <p:cNvPicPr>
            <a:picLocks noChangeAspect="1"/>
          </p:cNvPicPr>
          <p:nvPr/>
        </p:nvPicPr>
        <p:blipFill>
          <a:blip r:embed="rId3"/>
          <a:stretch>
            <a:fillRect/>
          </a:stretch>
        </p:blipFill>
        <p:spPr>
          <a:xfrm>
            <a:off x="228482" y="176211"/>
            <a:ext cx="7343773" cy="6505575"/>
          </a:xfrm>
          <a:prstGeom prst="rect">
            <a:avLst/>
          </a:prstGeom>
        </p:spPr>
      </p:pic>
    </p:spTree>
    <p:extLst>
      <p:ext uri="{BB962C8B-B14F-4D97-AF65-F5344CB8AC3E}">
        <p14:creationId xmlns:p14="http://schemas.microsoft.com/office/powerpoint/2010/main" val="22073989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F3670-2D96-49EB-9CD4-11CDDEF7158A}"/>
              </a:ext>
            </a:extLst>
          </p:cNvPr>
          <p:cNvSpPr>
            <a:spLocks noGrp="1"/>
          </p:cNvSpPr>
          <p:nvPr>
            <p:ph type="title"/>
          </p:nvPr>
        </p:nvSpPr>
        <p:spPr/>
        <p:txBody>
          <a:bodyPr/>
          <a:lstStyle/>
          <a:p>
            <a:r>
              <a:rPr lang="fa-IR" dirty="0"/>
              <a:t>تمرین رفلکشن</a:t>
            </a:r>
            <a:endParaRPr lang="en-US" dirty="0"/>
          </a:p>
        </p:txBody>
      </p:sp>
      <p:graphicFrame>
        <p:nvGraphicFramePr>
          <p:cNvPr id="4" name="Content Placeholder 3">
            <a:extLst>
              <a:ext uri="{FF2B5EF4-FFF2-40B4-BE49-F238E27FC236}">
                <a16:creationId xmlns:a16="http://schemas.microsoft.com/office/drawing/2014/main" id="{E787D6B3-78F8-4E5D-81B0-F1C0D35481D2}"/>
              </a:ext>
            </a:extLst>
          </p:cNvPr>
          <p:cNvGraphicFramePr>
            <a:graphicFrameLocks noGrp="1"/>
          </p:cNvGraphicFramePr>
          <p:nvPr>
            <p:ph idx="1"/>
            <p:extLst>
              <p:ext uri="{D42A27DB-BD31-4B8C-83A1-F6EECF244321}">
                <p14:modId xmlns:p14="http://schemas.microsoft.com/office/powerpoint/2010/main" val="1942440096"/>
              </p:ext>
            </p:extLst>
          </p:nvPr>
        </p:nvGraphicFramePr>
        <p:xfrm>
          <a:off x="1143000" y="2057400"/>
          <a:ext cx="9872663"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32466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203E8-749F-44B8-8214-50022225EA99}"/>
              </a:ext>
            </a:extLst>
          </p:cNvPr>
          <p:cNvSpPr>
            <a:spLocks noGrp="1"/>
          </p:cNvSpPr>
          <p:nvPr>
            <p:ph type="title"/>
          </p:nvPr>
        </p:nvSpPr>
        <p:spPr/>
        <p:txBody>
          <a:bodyPr/>
          <a:lstStyle/>
          <a:p>
            <a:r>
              <a:rPr lang="fa-IR" dirty="0"/>
              <a:t>موفق باشید</a:t>
            </a:r>
            <a:endParaRPr lang="en-US" dirty="0"/>
          </a:p>
        </p:txBody>
      </p:sp>
      <p:pic>
        <p:nvPicPr>
          <p:cNvPr id="4" name="Content Placeholder 4" descr="Person reading a book">
            <a:extLst>
              <a:ext uri="{FF2B5EF4-FFF2-40B4-BE49-F238E27FC236}">
                <a16:creationId xmlns:a16="http://schemas.microsoft.com/office/drawing/2014/main" id="{2625D714-A0CD-42E0-9872-CDFE1831322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447178" y="2057400"/>
            <a:ext cx="5264307" cy="4038600"/>
          </a:xfrm>
          <a:prstGeom prst="rect">
            <a:avLst/>
          </a:prstGeom>
        </p:spPr>
      </p:pic>
    </p:spTree>
    <p:extLst>
      <p:ext uri="{BB962C8B-B14F-4D97-AF65-F5344CB8AC3E}">
        <p14:creationId xmlns:p14="http://schemas.microsoft.com/office/powerpoint/2010/main" val="3433132978"/>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TM03457444[[fn=Basis]]</Template>
  <TotalTime>5774</TotalTime>
  <Words>2058</Words>
  <Application>Microsoft Office PowerPoint</Application>
  <PresentationFormat>Widescreen</PresentationFormat>
  <Paragraphs>224</Paragraphs>
  <Slides>47</Slides>
  <Notes>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Corbel</vt:lpstr>
      <vt:lpstr>Basis</vt:lpstr>
      <vt:lpstr>Develop Effective Study Strategies</vt:lpstr>
      <vt:lpstr>توسعه موثر استراتژی های مطالعه</vt:lpstr>
      <vt:lpstr>عواملی که یادگیریتان را تحت تاثیر قرار میدهد</vt:lpstr>
      <vt:lpstr> اگر زمانی را برای فکر کردن به نحوه یادگیری موثر خود اختصاص دهید مطالعه می تواند لذتبخش تر باشد  در نتیجه  درک مطالب درسی آسانتر باشد</vt:lpstr>
      <vt:lpstr>راههای افزایش ظرفیت یادگیری شما :  1-انگیزه  2- داشتن هدف روشن   </vt:lpstr>
      <vt:lpstr>پیدا کردن نحوه یادگیریتان می تواند به شما کمک کند تا تکنیکهای مطالعه را متناسب با نیازهایتان توسعه دهید</vt:lpstr>
      <vt:lpstr>دیدگاههای یادگیری</vt:lpstr>
      <vt:lpstr>یادگیری از دیدگاه شناختی</vt:lpstr>
      <vt:lpstr>در باره  یک مطلبی که خوب فراگرفته اید فکر کنید</vt:lpstr>
      <vt:lpstr>نتیجه در کلاس شما</vt:lpstr>
      <vt:lpstr>انگیزه </vt:lpstr>
      <vt:lpstr> چه چیزی شما را برای یادگیری بیشتر تحریک می کند؟</vt:lpstr>
      <vt:lpstr>Self regulation of study skills خودتنظیمی مهارتهای مطالعه</vt:lpstr>
      <vt:lpstr>چگونه متوجه می شوید که راجع به مطلبی آگاهی کافی دارید؟</vt:lpstr>
      <vt:lpstr>نتیجه سنجش سبک یادگیری شما</vt:lpstr>
      <vt:lpstr>PowerPoint Presentation</vt:lpstr>
      <vt:lpstr>راهبردهای موثر برای فراگیری دانش و بهبود فرایند یادگیری در رشته پزشکی</vt:lpstr>
      <vt:lpstr>ویژگیهای رشته پزشکی</vt:lpstr>
      <vt:lpstr>انتظارات از دانشجوی پزشکی</vt:lpstr>
      <vt:lpstr>نیاز دانشجوی پزشکی</vt:lpstr>
      <vt:lpstr>چطور بفهمیم که چه مطالبی را باید یادبگیریم؟</vt:lpstr>
      <vt:lpstr>تکنیکهای یادگیری در دانشکده پزشکی </vt:lpstr>
      <vt:lpstr>Self Directed Learning  در مقابل Teacher Directed Learning</vt:lpstr>
      <vt:lpstr> حجم زیادی از مطالب در مقابل یادگیری منظم</vt:lpstr>
      <vt:lpstr>(یادگیری مادام العمر) و رشد و توسعه حرفه ای </vt:lpstr>
      <vt:lpstr>مطالعه عمیق در مقابل به خاطرسپاری حجم زیادی از اطلاعات</vt:lpstr>
      <vt:lpstr>تاکسونومی بلوم: سطوح مختلف دانش</vt:lpstr>
      <vt:lpstr>به کارگیری هر دو لوب مغز در هنگام یادگیری</vt:lpstr>
      <vt:lpstr>استفاده از مدل تزریق حافظه</vt:lpstr>
      <vt:lpstr>شبکه های معنایی</vt:lpstr>
      <vt:lpstr>یادگیری گروهی و مشارکتی</vt:lpstr>
      <vt:lpstr>یادگیری فعال</vt:lpstr>
      <vt:lpstr>چند نکته برای ایجاد یادگیری فعال</vt:lpstr>
      <vt:lpstr>تکنیکهای یادداشت برداری</vt:lpstr>
      <vt:lpstr>نقشه های مفهومی</vt:lpstr>
      <vt:lpstr>نمونه ای از نقشه مفهومی</vt:lpstr>
      <vt:lpstr>فلش کارت ها</vt:lpstr>
      <vt:lpstr>جداول</vt:lpstr>
      <vt:lpstr>محیطهای یادگیری</vt:lpstr>
      <vt:lpstr>یادگیری از سخنرانیها </vt:lpstr>
      <vt:lpstr>در سخنرانی</vt:lpstr>
      <vt:lpstr>بعد از سخنرانی</vt:lpstr>
      <vt:lpstr>یادگیری از کتب</vt:lpstr>
      <vt:lpstr>یادگیری از اینترنت</vt:lpstr>
      <vt:lpstr>یادگیری از طریق بازاندیشی (Reflection)</vt:lpstr>
      <vt:lpstr>تمرین رفلکشن</vt:lpstr>
      <vt:lpstr>موفق باشید</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Kamali</dc:creator>
  <cp:lastModifiedBy>user</cp:lastModifiedBy>
  <cp:revision>104</cp:revision>
  <dcterms:created xsi:type="dcterms:W3CDTF">2023-04-08T07:33:43Z</dcterms:created>
  <dcterms:modified xsi:type="dcterms:W3CDTF">2023-12-09T11:56:51Z</dcterms:modified>
</cp:coreProperties>
</file>